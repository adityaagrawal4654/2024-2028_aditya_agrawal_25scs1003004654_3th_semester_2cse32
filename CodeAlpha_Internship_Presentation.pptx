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766560" y="0"/>
            <a:ext cx="5422392" cy="6858000"/>
          </a:xfrm>
          <a:prstGeom prst="rect">
            <a:avLst/>
          </a:prstGeom>
          <a:solidFill>
            <a:srgbClr val="16233F"/>
          </a:solidFill>
          <a:ln/>
        </p:spPr>
      </p:sp>
      <p:pic>
        <p:nvPicPr>
          <p:cNvPr id="3" name="Image 0" descr="/home/claude/iilm_report/iilm_logo.png">    </p:cNvPr>
          <p:cNvPicPr>
            <a:picLocks noChangeAspect="1"/>
          </p:cNvPicPr>
          <p:nvPr/>
        </p:nvPicPr>
        <p:blipFill>
          <a:blip r:embed="rId1"/>
          <a:stretch>
            <a:fillRect/>
          </a:stretch>
        </p:blipFill>
        <p:spPr>
          <a:xfrm>
            <a:off x="457200" y="411480"/>
            <a:ext cx="566928" cy="603504"/>
          </a:xfrm>
          <a:prstGeom prst="rect">
            <a:avLst/>
          </a:prstGeom>
        </p:spPr>
      </p:pic>
      <p:sp>
        <p:nvSpPr>
          <p:cNvPr id="4" name="Text 1"/>
          <p:cNvSpPr/>
          <p:nvPr/>
        </p:nvSpPr>
        <p:spPr>
          <a:xfrm>
            <a:off x="1143000" y="365760"/>
            <a:ext cx="2743200" cy="685800"/>
          </a:xfrm>
          <a:prstGeom prst="rect">
            <a:avLst/>
          </a:prstGeom>
          <a:noFill/>
          <a:ln/>
        </p:spPr>
        <p:txBody>
          <a:bodyPr wrap="square" rtlCol="0" anchor="ctr"/>
          <a:lstStyle/>
          <a:p>
            <a:pPr indent="0" marL="0">
              <a:lnSpc>
                <a:spcPts val="2000"/>
              </a:lnSpc>
              <a:buNone/>
            </a:pPr>
            <a:r>
              <a:rPr lang="en-US" sz="2000" b="1" spc="100" kern="0" dirty="0">
                <a:solidFill>
                  <a:srgbClr val="0B1B3A"/>
                </a:solidFill>
                <a:latin typeface="Georgia" pitchFamily="34" charset="0"/>
                <a:ea typeface="Georgia" pitchFamily="34" charset="-122"/>
                <a:cs typeface="Georgia" pitchFamily="34" charset="-120"/>
              </a:rPr>
              <a:t>IILM</a:t>
            </a:r>
            <a:endParaRPr lang="en-US" sz="2000" dirty="0"/>
          </a:p>
          <a:p>
            <a:pPr indent="0" marL="0">
              <a:lnSpc>
                <a:spcPts val="2000"/>
              </a:lnSpc>
              <a:buNone/>
            </a:pPr>
            <a:r>
              <a:rPr lang="en-US" sz="2000" b="1" spc="100" kern="0" dirty="0">
                <a:solidFill>
                  <a:srgbClr val="0B1B3A"/>
                </a:solidFill>
                <a:latin typeface="Georgia" pitchFamily="34" charset="0"/>
                <a:ea typeface="Georgia" pitchFamily="34" charset="-122"/>
                <a:cs typeface="Georgia" pitchFamily="34" charset="-120"/>
              </a:rPr>
              <a:t>UNIVERSITY</a:t>
            </a:r>
            <a:endParaRPr lang="en-US" sz="2000" dirty="0"/>
          </a:p>
        </p:txBody>
      </p:sp>
      <p:sp>
        <p:nvSpPr>
          <p:cNvPr id="5" name="Text 2"/>
          <p:cNvSpPr/>
          <p:nvPr/>
        </p:nvSpPr>
        <p:spPr>
          <a:xfrm>
            <a:off x="3566160" y="457200"/>
            <a:ext cx="2926080" cy="548640"/>
          </a:xfrm>
          <a:prstGeom prst="rect">
            <a:avLst/>
          </a:prstGeom>
          <a:noFill/>
          <a:ln/>
        </p:spPr>
        <p:txBody>
          <a:bodyPr wrap="square" rtlCol="0" anchor="ctr"/>
          <a:lstStyle/>
          <a:p>
            <a:pPr indent="0" marL="0">
              <a:lnSpc>
                <a:spcPts val="1400"/>
              </a:lnSpc>
              <a:buNone/>
            </a:pPr>
            <a:r>
              <a:rPr lang="en-US" sz="1100" b="1" dirty="0">
                <a:solidFill>
                  <a:srgbClr val="0B1B3A"/>
                </a:solidFill>
                <a:latin typeface="Calibri" pitchFamily="34" charset="0"/>
                <a:ea typeface="Calibri" pitchFamily="34" charset="-122"/>
                <a:cs typeface="Calibri" pitchFamily="34" charset="-120"/>
              </a:rPr>
              <a:t>IILM UNIVERSITY</a:t>
            </a:r>
            <a:endParaRPr lang="en-US" sz="1100" dirty="0"/>
          </a:p>
          <a:p>
            <a:pPr indent="0" marL="0">
              <a:lnSpc>
                <a:spcPts val="1400"/>
              </a:lnSpc>
              <a:buNone/>
            </a:pPr>
            <a:r>
              <a:rPr lang="en-US" sz="1100" b="1" dirty="0">
                <a:solidFill>
                  <a:srgbClr val="0B1B3A"/>
                </a:solidFill>
                <a:latin typeface="Calibri" pitchFamily="34" charset="0"/>
                <a:ea typeface="Calibri" pitchFamily="34" charset="-122"/>
                <a:cs typeface="Calibri" pitchFamily="34" charset="-120"/>
              </a:rPr>
              <a:t>GREATER NOIDA, UTTAR PRADESH</a:t>
            </a:r>
            <a:endParaRPr lang="en-US" sz="1100" dirty="0"/>
          </a:p>
        </p:txBody>
      </p:sp>
      <p:sp>
        <p:nvSpPr>
          <p:cNvPr id="6" name="Text 3"/>
          <p:cNvSpPr/>
          <p:nvPr/>
        </p:nvSpPr>
        <p:spPr>
          <a:xfrm>
            <a:off x="457200" y="2286000"/>
            <a:ext cx="5943600" cy="320040"/>
          </a:xfrm>
          <a:prstGeom prst="rect">
            <a:avLst/>
          </a:prstGeom>
          <a:noFill/>
          <a:ln/>
        </p:spPr>
        <p:txBody>
          <a:bodyPr wrap="square" rtlCol="0" anchor="ctr"/>
          <a:lstStyle/>
          <a:p>
            <a:pPr indent="0" marL="0">
              <a:buNone/>
            </a:pPr>
            <a:r>
              <a:rPr lang="en-US" sz="1200" b="1" spc="200" kern="0" dirty="0">
                <a:solidFill>
                  <a:srgbClr val="2F5FE0"/>
                </a:solidFill>
                <a:latin typeface="Calibri" pitchFamily="34" charset="0"/>
                <a:ea typeface="Calibri" pitchFamily="34" charset="-122"/>
                <a:cs typeface="Calibri" pitchFamily="34" charset="-120"/>
              </a:rPr>
              <a:t>CODEALPHA VIRTUAL INTERNSHIP</a:t>
            </a:r>
            <a:endParaRPr lang="en-US" sz="1200" dirty="0"/>
          </a:p>
        </p:txBody>
      </p:sp>
      <p:sp>
        <p:nvSpPr>
          <p:cNvPr id="7" name="Text 4"/>
          <p:cNvSpPr/>
          <p:nvPr/>
        </p:nvSpPr>
        <p:spPr>
          <a:xfrm>
            <a:off x="457200" y="2606040"/>
            <a:ext cx="6035040" cy="822960"/>
          </a:xfrm>
          <a:prstGeom prst="rect">
            <a:avLst/>
          </a:prstGeom>
          <a:noFill/>
          <a:ln/>
        </p:spPr>
        <p:txBody>
          <a:bodyPr wrap="square" rtlCol="0" anchor="ctr"/>
          <a:lstStyle/>
          <a:p>
            <a:pPr indent="0" marL="0">
              <a:buNone/>
            </a:pPr>
            <a:r>
              <a:rPr lang="en-US" sz="3200" b="1" dirty="0">
                <a:solidFill>
                  <a:srgbClr val="0B1B3A"/>
                </a:solidFill>
                <a:latin typeface="Cambria" pitchFamily="34" charset="0"/>
                <a:ea typeface="Cambria" pitchFamily="34" charset="-122"/>
                <a:cs typeface="Cambria" pitchFamily="34" charset="-120"/>
              </a:rPr>
              <a:t>C++ Programming Internship</a:t>
            </a:r>
            <a:endParaRPr lang="en-US" sz="3200" dirty="0"/>
          </a:p>
        </p:txBody>
      </p:sp>
      <p:sp>
        <p:nvSpPr>
          <p:cNvPr id="8" name="Text 5"/>
          <p:cNvSpPr/>
          <p:nvPr/>
        </p:nvSpPr>
        <p:spPr>
          <a:xfrm>
            <a:off x="457200" y="3337560"/>
            <a:ext cx="5943600" cy="457200"/>
          </a:xfrm>
          <a:prstGeom prst="rect">
            <a:avLst/>
          </a:prstGeom>
          <a:noFill/>
          <a:ln/>
        </p:spPr>
        <p:txBody>
          <a:bodyPr wrap="square" rtlCol="0" anchor="ctr"/>
          <a:lstStyle/>
          <a:p>
            <a:pPr indent="0" marL="0">
              <a:buNone/>
            </a:pPr>
            <a:r>
              <a:rPr lang="en-US" sz="1500" b="1" dirty="0">
                <a:solidFill>
                  <a:srgbClr val="2F5FE0"/>
                </a:solidFill>
                <a:latin typeface="Calibri" pitchFamily="34" charset="0"/>
                <a:ea typeface="Calibri" pitchFamily="34" charset="-122"/>
                <a:cs typeface="Calibri" pitchFamily="34" charset="-120"/>
              </a:rPr>
              <a:t>Report of CGPA Calculator, Banking System &amp; Sudoku Solver</a:t>
            </a:r>
            <a:endParaRPr lang="en-US" sz="1500" dirty="0"/>
          </a:p>
        </p:txBody>
      </p:sp>
      <p:sp>
        <p:nvSpPr>
          <p:cNvPr id="9" name="Text 6"/>
          <p:cNvSpPr/>
          <p:nvPr/>
        </p:nvSpPr>
        <p:spPr>
          <a:xfrm>
            <a:off x="457200" y="5806440"/>
            <a:ext cx="3657600" cy="274320"/>
          </a:xfrm>
          <a:prstGeom prst="rect">
            <a:avLst/>
          </a:prstGeom>
          <a:noFill/>
          <a:ln/>
        </p:spPr>
        <p:txBody>
          <a:bodyPr wrap="square" rtlCol="0" anchor="ctr"/>
          <a:lstStyle/>
          <a:p>
            <a:pPr indent="0" marL="0">
              <a:buNone/>
            </a:pPr>
            <a:r>
              <a:rPr lang="en-US" sz="1100" b="1" spc="200" kern="0" dirty="0">
                <a:solidFill>
                  <a:srgbClr val="2F5FE0"/>
                </a:solidFill>
                <a:latin typeface="Calibri" pitchFamily="34" charset="0"/>
                <a:ea typeface="Calibri" pitchFamily="34" charset="-122"/>
                <a:cs typeface="Calibri" pitchFamily="34" charset="-120"/>
              </a:rPr>
              <a:t>INTERNSHIP DURATION</a:t>
            </a:r>
            <a:endParaRPr lang="en-US" sz="1100" dirty="0"/>
          </a:p>
        </p:txBody>
      </p:sp>
      <p:sp>
        <p:nvSpPr>
          <p:cNvPr id="10" name="Text 7"/>
          <p:cNvSpPr/>
          <p:nvPr/>
        </p:nvSpPr>
        <p:spPr>
          <a:xfrm>
            <a:off x="457200" y="6080760"/>
            <a:ext cx="3657600" cy="32004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20 August 2026 – 20 September 2026</a:t>
            </a:r>
            <a:endParaRPr lang="en-US" sz="1400" dirty="0"/>
          </a:p>
        </p:txBody>
      </p:sp>
      <p:sp>
        <p:nvSpPr>
          <p:cNvPr id="11" name="Text 8"/>
          <p:cNvSpPr/>
          <p:nvPr/>
        </p:nvSpPr>
        <p:spPr>
          <a:xfrm>
            <a:off x="7178040" y="502920"/>
            <a:ext cx="4389120" cy="320040"/>
          </a:xfrm>
          <a:prstGeom prst="rect">
            <a:avLst/>
          </a:prstGeom>
          <a:noFill/>
          <a:ln/>
        </p:spPr>
        <p:txBody>
          <a:bodyPr wrap="square" rtlCol="0" anchor="ctr"/>
          <a:lstStyle/>
          <a:p>
            <a:pPr indent="0" marL="0">
              <a:buNone/>
            </a:pPr>
            <a:r>
              <a:rPr lang="en-US" sz="1200" b="1" spc="200" kern="0" dirty="0">
                <a:solidFill>
                  <a:srgbClr val="8FB4FF"/>
                </a:solidFill>
                <a:latin typeface="Calibri" pitchFamily="34" charset="0"/>
                <a:ea typeface="Calibri" pitchFamily="34" charset="-122"/>
                <a:cs typeface="Calibri" pitchFamily="34" charset="-120"/>
              </a:rPr>
              <a:t>STUDENT CREDENTIALS</a:t>
            </a:r>
            <a:endParaRPr lang="en-US" sz="1200" dirty="0"/>
          </a:p>
        </p:txBody>
      </p:sp>
      <p:sp>
        <p:nvSpPr>
          <p:cNvPr id="12" name="Shape 9"/>
          <p:cNvSpPr/>
          <p:nvPr/>
        </p:nvSpPr>
        <p:spPr>
          <a:xfrm>
            <a:off x="7178040" y="914400"/>
            <a:ext cx="4480560" cy="1371600"/>
          </a:xfrm>
          <a:prstGeom prst="roundRect">
            <a:avLst>
              <a:gd name="adj" fmla="val 5333"/>
            </a:avLst>
          </a:prstGeom>
          <a:solidFill>
            <a:srgbClr val="1E2C4E"/>
          </a:solidFill>
          <a:ln w="12700">
            <a:solidFill>
              <a:srgbClr val="2C3B60"/>
            </a:solidFill>
            <a:prstDash val="solid"/>
          </a:ln>
        </p:spPr>
      </p:sp>
      <p:sp>
        <p:nvSpPr>
          <p:cNvPr id="13" name="Text 10"/>
          <p:cNvSpPr/>
          <p:nvPr/>
        </p:nvSpPr>
        <p:spPr>
          <a:xfrm>
            <a:off x="7452360" y="1097280"/>
            <a:ext cx="402336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Aditya Agrawal</a:t>
            </a:r>
            <a:endParaRPr lang="en-US" sz="2000" dirty="0"/>
          </a:p>
        </p:txBody>
      </p:sp>
      <p:sp>
        <p:nvSpPr>
          <p:cNvPr id="14" name="Text 11"/>
          <p:cNvSpPr/>
          <p:nvPr/>
        </p:nvSpPr>
        <p:spPr>
          <a:xfrm>
            <a:off x="7452360" y="1600200"/>
            <a:ext cx="2011680" cy="274320"/>
          </a:xfrm>
          <a:prstGeom prst="rect">
            <a:avLst/>
          </a:prstGeom>
          <a:noFill/>
          <a:ln/>
        </p:spPr>
        <p:txBody>
          <a:bodyPr wrap="square" rtlCol="0" anchor="ctr"/>
          <a:lstStyle/>
          <a:p>
            <a:pPr indent="0" marL="0">
              <a:buNone/>
            </a:pPr>
            <a:r>
              <a:rPr lang="en-US" sz="1000" dirty="0">
                <a:solidFill>
                  <a:srgbClr val="8FB4FF"/>
                </a:solidFill>
                <a:latin typeface="Calibri" pitchFamily="34" charset="0"/>
                <a:ea typeface="Calibri" pitchFamily="34" charset="-122"/>
                <a:cs typeface="Calibri" pitchFamily="34" charset="-120"/>
              </a:rPr>
              <a:t>Roll No.</a:t>
            </a:r>
            <a:endParaRPr lang="en-US" sz="1000" dirty="0"/>
          </a:p>
        </p:txBody>
      </p:sp>
      <p:sp>
        <p:nvSpPr>
          <p:cNvPr id="15" name="Text 12"/>
          <p:cNvSpPr/>
          <p:nvPr/>
        </p:nvSpPr>
        <p:spPr>
          <a:xfrm>
            <a:off x="7452360" y="1828800"/>
            <a:ext cx="219456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25SCS1003004654</a:t>
            </a:r>
            <a:endParaRPr lang="en-US" sz="1300" dirty="0"/>
          </a:p>
        </p:txBody>
      </p:sp>
      <p:sp>
        <p:nvSpPr>
          <p:cNvPr id="16" name="Text 13"/>
          <p:cNvSpPr/>
          <p:nvPr/>
        </p:nvSpPr>
        <p:spPr>
          <a:xfrm>
            <a:off x="9509760" y="1600200"/>
            <a:ext cx="2011680" cy="274320"/>
          </a:xfrm>
          <a:prstGeom prst="rect">
            <a:avLst/>
          </a:prstGeom>
          <a:noFill/>
          <a:ln/>
        </p:spPr>
        <p:txBody>
          <a:bodyPr wrap="square" rtlCol="0" anchor="ctr"/>
          <a:lstStyle/>
          <a:p>
            <a:pPr indent="0" marL="0">
              <a:buNone/>
            </a:pPr>
            <a:r>
              <a:rPr lang="en-US" sz="1000" dirty="0">
                <a:solidFill>
                  <a:srgbClr val="8FB4FF"/>
                </a:solidFill>
                <a:latin typeface="Calibri" pitchFamily="34" charset="0"/>
                <a:ea typeface="Calibri" pitchFamily="34" charset="-122"/>
                <a:cs typeface="Calibri" pitchFamily="34" charset="-120"/>
              </a:rPr>
              <a:t>Program</a:t>
            </a:r>
            <a:endParaRPr lang="en-US" sz="1000" dirty="0"/>
          </a:p>
        </p:txBody>
      </p:sp>
      <p:sp>
        <p:nvSpPr>
          <p:cNvPr id="17" name="Text 14"/>
          <p:cNvSpPr/>
          <p:nvPr/>
        </p:nvSpPr>
        <p:spPr>
          <a:xfrm>
            <a:off x="9509760" y="1828800"/>
            <a:ext cx="21031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B.Tech CSE (AI &amp; ML)</a:t>
            </a:r>
            <a:endParaRPr lang="en-US" sz="1300" dirty="0"/>
          </a:p>
        </p:txBody>
      </p:sp>
      <p:sp>
        <p:nvSpPr>
          <p:cNvPr id="18" name="Shape 15"/>
          <p:cNvSpPr/>
          <p:nvPr/>
        </p:nvSpPr>
        <p:spPr>
          <a:xfrm>
            <a:off x="7178040" y="5623560"/>
            <a:ext cx="4480560" cy="960120"/>
          </a:xfrm>
          <a:prstGeom prst="roundRect">
            <a:avLst>
              <a:gd name="adj" fmla="val 7619"/>
            </a:avLst>
          </a:prstGeom>
          <a:solidFill>
            <a:srgbClr val="2F5FE0"/>
          </a:solidFill>
          <a:ln/>
        </p:spPr>
      </p:sp>
      <p:sp>
        <p:nvSpPr>
          <p:cNvPr id="19" name="Text 16"/>
          <p:cNvSpPr/>
          <p:nvPr/>
        </p:nvSpPr>
        <p:spPr>
          <a:xfrm>
            <a:off x="7452360" y="5742432"/>
            <a:ext cx="4023360" cy="274320"/>
          </a:xfrm>
          <a:prstGeom prst="rect">
            <a:avLst/>
          </a:prstGeom>
          <a:noFill/>
          <a:ln/>
        </p:spPr>
        <p:txBody>
          <a:bodyPr wrap="square" rtlCol="0" anchor="ctr"/>
          <a:lstStyle/>
          <a:p>
            <a:pPr indent="0" marL="0">
              <a:buNone/>
            </a:pPr>
            <a:r>
              <a:rPr lang="en-US" sz="1000" b="1" dirty="0">
                <a:solidFill>
                  <a:srgbClr val="DCE6FF"/>
                </a:solidFill>
                <a:latin typeface="Calibri" pitchFamily="34" charset="0"/>
                <a:ea typeface="Calibri" pitchFamily="34" charset="-122"/>
                <a:cs typeface="Calibri" pitchFamily="34" charset="-120"/>
              </a:rPr>
              <a:t>HOST ORGANIZATION</a:t>
            </a:r>
            <a:endParaRPr lang="en-US" sz="1000" dirty="0"/>
          </a:p>
        </p:txBody>
      </p:sp>
      <p:sp>
        <p:nvSpPr>
          <p:cNvPr id="20" name="Text 17"/>
          <p:cNvSpPr/>
          <p:nvPr/>
        </p:nvSpPr>
        <p:spPr>
          <a:xfrm>
            <a:off x="7452360" y="5989320"/>
            <a:ext cx="402336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CodeAlpha</a:t>
            </a:r>
            <a:endParaRPr lang="en-US" sz="1400" dirty="0"/>
          </a:p>
        </p:txBody>
      </p:sp>
      <p:sp>
        <p:nvSpPr>
          <p:cNvPr id="21" name="Text 18"/>
          <p:cNvSpPr/>
          <p:nvPr/>
        </p:nvSpPr>
        <p:spPr>
          <a:xfrm>
            <a:off x="7452360" y="6263640"/>
            <a:ext cx="4114800" cy="274320"/>
          </a:xfrm>
          <a:prstGeom prst="rect">
            <a:avLst/>
          </a:prstGeom>
          <a:noFill/>
          <a:ln/>
        </p:spPr>
        <p:txBody>
          <a:bodyPr wrap="square" rtlCol="0" anchor="ctr"/>
          <a:lstStyle/>
          <a:p>
            <a:pPr indent="0" marL="0">
              <a:buNone/>
            </a:pPr>
            <a:r>
              <a:rPr lang="en-US" sz="1000" dirty="0">
                <a:solidFill>
                  <a:srgbClr val="DCE6FF"/>
                </a:solidFill>
                <a:latin typeface="Calibri" pitchFamily="34" charset="0"/>
                <a:ea typeface="Calibri" pitchFamily="34" charset="-122"/>
                <a:cs typeface="Calibri" pitchFamily="34" charset="-120"/>
              </a:rPr>
              <a:t>Virtual Internship Program – C++ Programming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640080"/>
          </a:xfrm>
          <a:prstGeom prst="rect">
            <a:avLst/>
          </a:prstGeom>
          <a:noFill/>
          <a:ln/>
        </p:spPr>
        <p:txBody>
          <a:bodyPr wrap="square" rtlCol="0" anchor="ctr"/>
          <a:lstStyle/>
          <a:p>
            <a:pPr indent="0" marL="0">
              <a:buNone/>
            </a:pPr>
            <a:r>
              <a:rPr lang="en-US" sz="2600" b="1" dirty="0">
                <a:solidFill>
                  <a:srgbClr val="0B1B3A"/>
                </a:solidFill>
                <a:latin typeface="Cambria" pitchFamily="34" charset="0"/>
                <a:ea typeface="Cambria" pitchFamily="34" charset="-122"/>
                <a:cs typeface="Cambria" pitchFamily="34" charset="-120"/>
              </a:rPr>
              <a:t>Candidate &amp; Program Overview</a:t>
            </a:r>
            <a:endParaRPr lang="en-US" sz="2600" dirty="0"/>
          </a:p>
        </p:txBody>
      </p:sp>
      <p:sp>
        <p:nvSpPr>
          <p:cNvPr id="3" name="Shape 1"/>
          <p:cNvSpPr/>
          <p:nvPr/>
        </p:nvSpPr>
        <p:spPr>
          <a:xfrm>
            <a:off x="502920" y="960120"/>
            <a:ext cx="11155680" cy="41148"/>
          </a:xfrm>
          <a:prstGeom prst="rect">
            <a:avLst/>
          </a:prstGeom>
          <a:solidFill>
            <a:srgbClr val="2F5FE0"/>
          </a:solidFill>
          <a:ln/>
        </p:spPr>
      </p:sp>
      <p:sp>
        <p:nvSpPr>
          <p:cNvPr id="4" name="Shape 2"/>
          <p:cNvSpPr/>
          <p:nvPr/>
        </p:nvSpPr>
        <p:spPr>
          <a:xfrm>
            <a:off x="502920" y="1371600"/>
            <a:ext cx="5349240" cy="4206240"/>
          </a:xfrm>
          <a:prstGeom prst="roundRect">
            <a:avLst>
              <a:gd name="adj" fmla="val 1304"/>
            </a:avLst>
          </a:prstGeom>
          <a:solidFill>
            <a:srgbClr val="F7F9FC"/>
          </a:solidFill>
          <a:ln w="12700">
            <a:solidFill>
              <a:srgbClr val="E3E7EF"/>
            </a:solidFill>
            <a:prstDash val="solid"/>
          </a:ln>
        </p:spPr>
      </p:sp>
      <p:sp>
        <p:nvSpPr>
          <p:cNvPr id="5" name="Shape 3"/>
          <p:cNvSpPr/>
          <p:nvPr/>
        </p:nvSpPr>
        <p:spPr>
          <a:xfrm>
            <a:off x="502920" y="1371600"/>
            <a:ext cx="54864" cy="4206240"/>
          </a:xfrm>
          <a:prstGeom prst="rect">
            <a:avLst/>
          </a:prstGeom>
          <a:solidFill>
            <a:srgbClr val="2F5FE0"/>
          </a:solidFill>
          <a:ln/>
        </p:spPr>
      </p:sp>
      <p:sp>
        <p:nvSpPr>
          <p:cNvPr id="6" name="Text 4"/>
          <p:cNvSpPr/>
          <p:nvPr/>
        </p:nvSpPr>
        <p:spPr>
          <a:xfrm>
            <a:off x="822960" y="1600200"/>
            <a:ext cx="4754880" cy="365760"/>
          </a:xfrm>
          <a:prstGeom prst="rect">
            <a:avLst/>
          </a:prstGeom>
          <a:noFill/>
          <a:ln/>
        </p:spPr>
        <p:txBody>
          <a:bodyPr wrap="square" rtlCol="0" anchor="ctr"/>
          <a:lstStyle/>
          <a:p>
            <a:pPr indent="0" marL="0">
              <a:buNone/>
            </a:pPr>
            <a:r>
              <a:rPr lang="en-US" sz="1600" b="1" dirty="0">
                <a:solidFill>
                  <a:srgbClr val="0B1B3A"/>
                </a:solidFill>
                <a:latin typeface="Cambria" pitchFamily="34" charset="0"/>
                <a:ea typeface="Cambria" pitchFamily="34" charset="-122"/>
                <a:cs typeface="Cambria" pitchFamily="34" charset="-120"/>
              </a:rPr>
              <a:t>👤  Candidate Details</a:t>
            </a:r>
            <a:endParaRPr lang="en-US" sz="1600" dirty="0"/>
          </a:p>
        </p:txBody>
      </p:sp>
      <p:sp>
        <p:nvSpPr>
          <p:cNvPr id="7" name="Text 5"/>
          <p:cNvSpPr/>
          <p:nvPr/>
        </p:nvSpPr>
        <p:spPr>
          <a:xfrm>
            <a:off x="822960" y="2148840"/>
            <a:ext cx="4754880" cy="54864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Student Name: </a:t>
            </a:r>
            <a:pPr indent="0" marL="0">
              <a:lnSpc>
                <a:spcPts val="1600"/>
              </a:lnSpc>
              <a:buNone/>
            </a:pPr>
            <a:r>
              <a:rPr lang="en-US" sz="1300" dirty="0">
                <a:solidFill>
                  <a:srgbClr val="48505C"/>
                </a:solidFill>
                <a:latin typeface="Calibri" pitchFamily="34" charset="0"/>
                <a:ea typeface="Calibri" pitchFamily="34" charset="-122"/>
                <a:cs typeface="Calibri" pitchFamily="34" charset="-120"/>
              </a:rPr>
              <a:t>ADITYA AGRAWAL</a:t>
            </a:r>
            <a:endParaRPr lang="en-US" sz="1300" dirty="0"/>
          </a:p>
        </p:txBody>
      </p:sp>
      <p:sp>
        <p:nvSpPr>
          <p:cNvPr id="8" name="Text 6"/>
          <p:cNvSpPr/>
          <p:nvPr/>
        </p:nvSpPr>
        <p:spPr>
          <a:xfrm>
            <a:off x="822960" y="2807208"/>
            <a:ext cx="4754880" cy="54864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Roll Number: </a:t>
            </a:r>
            <a:pPr indent="0" marL="0">
              <a:lnSpc>
                <a:spcPts val="1600"/>
              </a:lnSpc>
              <a:buNone/>
            </a:pPr>
            <a:r>
              <a:rPr lang="en-US" sz="1300" dirty="0">
                <a:solidFill>
                  <a:srgbClr val="48505C"/>
                </a:solidFill>
                <a:latin typeface="Calibri" pitchFamily="34" charset="0"/>
                <a:ea typeface="Calibri" pitchFamily="34" charset="-122"/>
                <a:cs typeface="Calibri" pitchFamily="34" charset="-120"/>
              </a:rPr>
              <a:t>25SCS1003004654</a:t>
            </a:r>
            <a:endParaRPr lang="en-US" sz="1300" dirty="0"/>
          </a:p>
        </p:txBody>
      </p:sp>
      <p:sp>
        <p:nvSpPr>
          <p:cNvPr id="9" name="Text 7"/>
          <p:cNvSpPr/>
          <p:nvPr/>
        </p:nvSpPr>
        <p:spPr>
          <a:xfrm>
            <a:off x="822960" y="3465576"/>
            <a:ext cx="4754880" cy="54864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Degree: </a:t>
            </a:r>
            <a:pPr indent="0" marL="0">
              <a:lnSpc>
                <a:spcPts val="1600"/>
              </a:lnSpc>
              <a:buNone/>
            </a:pPr>
            <a:r>
              <a:rPr lang="en-US" sz="1300" dirty="0">
                <a:solidFill>
                  <a:srgbClr val="48505C"/>
                </a:solidFill>
                <a:latin typeface="Calibri" pitchFamily="34" charset="0"/>
                <a:ea typeface="Calibri" pitchFamily="34" charset="-122"/>
                <a:cs typeface="Calibri" pitchFamily="34" charset="-120"/>
              </a:rPr>
              <a:t>B.Tech (Computer Science &amp; Engineering – AI &amp; ML)</a:t>
            </a:r>
            <a:endParaRPr lang="en-US" sz="1300" dirty="0"/>
          </a:p>
        </p:txBody>
      </p:sp>
      <p:sp>
        <p:nvSpPr>
          <p:cNvPr id="10" name="Text 8"/>
          <p:cNvSpPr/>
          <p:nvPr/>
        </p:nvSpPr>
        <p:spPr>
          <a:xfrm>
            <a:off x="822960" y="4123944"/>
            <a:ext cx="4754880" cy="54864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Batch: </a:t>
            </a:r>
            <a:pPr indent="0" marL="0">
              <a:lnSpc>
                <a:spcPts val="1600"/>
              </a:lnSpc>
              <a:buNone/>
            </a:pPr>
            <a:r>
              <a:rPr lang="en-US" sz="1300" dirty="0">
                <a:solidFill>
                  <a:srgbClr val="48505C"/>
                </a:solidFill>
                <a:latin typeface="Calibri" pitchFamily="34" charset="0"/>
                <a:ea typeface="Calibri" pitchFamily="34" charset="-122"/>
                <a:cs typeface="Calibri" pitchFamily="34" charset="-120"/>
              </a:rPr>
              <a:t>2025 – 2029</a:t>
            </a:r>
            <a:endParaRPr lang="en-US" sz="1300" dirty="0"/>
          </a:p>
        </p:txBody>
      </p:sp>
      <p:sp>
        <p:nvSpPr>
          <p:cNvPr id="11" name="Text 9"/>
          <p:cNvSpPr/>
          <p:nvPr/>
        </p:nvSpPr>
        <p:spPr>
          <a:xfrm>
            <a:off x="822960" y="4782312"/>
            <a:ext cx="4754880" cy="54864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University: </a:t>
            </a:r>
            <a:pPr indent="0" marL="0">
              <a:lnSpc>
                <a:spcPts val="1600"/>
              </a:lnSpc>
              <a:buNone/>
            </a:pPr>
            <a:r>
              <a:rPr lang="en-US" sz="1300" dirty="0">
                <a:solidFill>
                  <a:srgbClr val="48505C"/>
                </a:solidFill>
                <a:latin typeface="Calibri" pitchFamily="34" charset="0"/>
                <a:ea typeface="Calibri" pitchFamily="34" charset="-122"/>
                <a:cs typeface="Calibri" pitchFamily="34" charset="-120"/>
              </a:rPr>
              <a:t>IILM University, Greater Noida, U.P.</a:t>
            </a:r>
            <a:endParaRPr lang="en-US" sz="1300" dirty="0"/>
          </a:p>
        </p:txBody>
      </p:sp>
      <p:sp>
        <p:nvSpPr>
          <p:cNvPr id="12" name="Shape 10"/>
          <p:cNvSpPr/>
          <p:nvPr/>
        </p:nvSpPr>
        <p:spPr>
          <a:xfrm>
            <a:off x="6035040" y="1371600"/>
            <a:ext cx="5623560" cy="4206240"/>
          </a:xfrm>
          <a:prstGeom prst="roundRect">
            <a:avLst>
              <a:gd name="adj" fmla="val 1304"/>
            </a:avLst>
          </a:prstGeom>
          <a:solidFill>
            <a:srgbClr val="F7F9FC"/>
          </a:solidFill>
          <a:ln w="12700">
            <a:solidFill>
              <a:srgbClr val="E3E7EF"/>
            </a:solidFill>
            <a:prstDash val="solid"/>
          </a:ln>
        </p:spPr>
      </p:sp>
      <p:sp>
        <p:nvSpPr>
          <p:cNvPr id="13" name="Shape 11"/>
          <p:cNvSpPr/>
          <p:nvPr/>
        </p:nvSpPr>
        <p:spPr>
          <a:xfrm>
            <a:off x="6035040" y="1371600"/>
            <a:ext cx="54864" cy="4206240"/>
          </a:xfrm>
          <a:prstGeom prst="rect">
            <a:avLst/>
          </a:prstGeom>
          <a:solidFill>
            <a:srgbClr val="2F5FE0"/>
          </a:solidFill>
          <a:ln/>
        </p:spPr>
      </p:sp>
      <p:sp>
        <p:nvSpPr>
          <p:cNvPr id="14" name="Text 12"/>
          <p:cNvSpPr/>
          <p:nvPr/>
        </p:nvSpPr>
        <p:spPr>
          <a:xfrm>
            <a:off x="6355080" y="1600200"/>
            <a:ext cx="5120640" cy="365760"/>
          </a:xfrm>
          <a:prstGeom prst="rect">
            <a:avLst/>
          </a:prstGeom>
          <a:noFill/>
          <a:ln/>
        </p:spPr>
        <p:txBody>
          <a:bodyPr wrap="square" rtlCol="0" anchor="ctr"/>
          <a:lstStyle/>
          <a:p>
            <a:pPr indent="0" marL="0">
              <a:buNone/>
            </a:pPr>
            <a:r>
              <a:rPr lang="en-US" sz="1600" b="1" dirty="0">
                <a:solidFill>
                  <a:srgbClr val="0B1B3A"/>
                </a:solidFill>
                <a:latin typeface="Cambria" pitchFamily="34" charset="0"/>
                <a:ea typeface="Cambria" pitchFamily="34" charset="-122"/>
                <a:cs typeface="Cambria" pitchFamily="34" charset="-120"/>
              </a:rPr>
              <a:t>🏛  Internship Profile</a:t>
            </a:r>
            <a:endParaRPr lang="en-US" sz="1600" dirty="0"/>
          </a:p>
        </p:txBody>
      </p:sp>
      <p:sp>
        <p:nvSpPr>
          <p:cNvPr id="15" name="Text 13"/>
          <p:cNvSpPr/>
          <p:nvPr/>
        </p:nvSpPr>
        <p:spPr>
          <a:xfrm>
            <a:off x="6355080" y="2148840"/>
            <a:ext cx="5120640" cy="59436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Program Name: </a:t>
            </a:r>
            <a:pPr indent="0" marL="0">
              <a:lnSpc>
                <a:spcPts val="1600"/>
              </a:lnSpc>
              <a:buNone/>
            </a:pPr>
            <a:r>
              <a:rPr lang="en-US" sz="1300" dirty="0">
                <a:solidFill>
                  <a:srgbClr val="48505C"/>
                </a:solidFill>
                <a:latin typeface="Calibri" pitchFamily="34" charset="0"/>
                <a:ea typeface="Calibri" pitchFamily="34" charset="-122"/>
                <a:cs typeface="Calibri" pitchFamily="34" charset="-120"/>
              </a:rPr>
              <a:t>CodeAlpha Virtual Internship – C++ Programming</a:t>
            </a:r>
            <a:endParaRPr lang="en-US" sz="1300" dirty="0"/>
          </a:p>
        </p:txBody>
      </p:sp>
      <p:sp>
        <p:nvSpPr>
          <p:cNvPr id="16" name="Text 14"/>
          <p:cNvSpPr/>
          <p:nvPr/>
        </p:nvSpPr>
        <p:spPr>
          <a:xfrm>
            <a:off x="6355080" y="2807208"/>
            <a:ext cx="5120640" cy="59436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Tasks Completed: </a:t>
            </a:r>
            <a:pPr indent="0" marL="0">
              <a:lnSpc>
                <a:spcPts val="1600"/>
              </a:lnSpc>
              <a:buNone/>
            </a:pPr>
            <a:r>
              <a:rPr lang="en-US" sz="1300" dirty="0">
                <a:solidFill>
                  <a:srgbClr val="48505C"/>
                </a:solidFill>
                <a:latin typeface="Calibri" pitchFamily="34" charset="0"/>
                <a:ea typeface="Calibri" pitchFamily="34" charset="-122"/>
                <a:cs typeface="Calibri" pitchFamily="34" charset="-120"/>
              </a:rPr>
              <a:t>3 of 4 (CGPA Calculator, Banking System, Sudoku Solver)</a:t>
            </a:r>
            <a:endParaRPr lang="en-US" sz="1300" dirty="0"/>
          </a:p>
        </p:txBody>
      </p:sp>
      <p:sp>
        <p:nvSpPr>
          <p:cNvPr id="17" name="Text 15"/>
          <p:cNvSpPr/>
          <p:nvPr/>
        </p:nvSpPr>
        <p:spPr>
          <a:xfrm>
            <a:off x="6355080" y="3465576"/>
            <a:ext cx="5120640" cy="59436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Duration: </a:t>
            </a:r>
            <a:pPr indent="0" marL="0">
              <a:lnSpc>
                <a:spcPts val="1600"/>
              </a:lnSpc>
              <a:buNone/>
            </a:pPr>
            <a:r>
              <a:rPr lang="en-US" sz="1300" dirty="0">
                <a:solidFill>
                  <a:srgbClr val="48505C"/>
                </a:solidFill>
                <a:latin typeface="Calibri" pitchFamily="34" charset="0"/>
                <a:ea typeface="Calibri" pitchFamily="34" charset="-122"/>
                <a:cs typeface="Calibri" pitchFamily="34" charset="-120"/>
              </a:rPr>
              <a:t>20 August 2026 – 20 September 2026</a:t>
            </a:r>
            <a:endParaRPr lang="en-US" sz="1300" dirty="0"/>
          </a:p>
        </p:txBody>
      </p:sp>
      <p:sp>
        <p:nvSpPr>
          <p:cNvPr id="18" name="Text 16"/>
          <p:cNvSpPr/>
          <p:nvPr/>
        </p:nvSpPr>
        <p:spPr>
          <a:xfrm>
            <a:off x="6355080" y="4123944"/>
            <a:ext cx="5120640" cy="59436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Student ID: </a:t>
            </a:r>
            <a:pPr indent="0" marL="0">
              <a:lnSpc>
                <a:spcPts val="1600"/>
              </a:lnSpc>
              <a:buNone/>
            </a:pPr>
            <a:r>
              <a:rPr lang="en-US" sz="1300" dirty="0">
                <a:solidFill>
                  <a:srgbClr val="48505C"/>
                </a:solidFill>
                <a:latin typeface="Calibri" pitchFamily="34" charset="0"/>
                <a:ea typeface="Calibri" pitchFamily="34" charset="-122"/>
                <a:cs typeface="Calibri" pitchFamily="34" charset="-120"/>
              </a:rPr>
              <a:t>CA/DF1/245935</a:t>
            </a:r>
            <a:endParaRPr lang="en-US" sz="1300" dirty="0"/>
          </a:p>
        </p:txBody>
      </p:sp>
      <p:sp>
        <p:nvSpPr>
          <p:cNvPr id="19" name="Text 17"/>
          <p:cNvSpPr/>
          <p:nvPr/>
        </p:nvSpPr>
        <p:spPr>
          <a:xfrm>
            <a:off x="6355080" y="4782312"/>
            <a:ext cx="5120640" cy="59436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Issuing Authority: </a:t>
            </a:r>
            <a:pPr indent="0" marL="0">
              <a:lnSpc>
                <a:spcPts val="1600"/>
              </a:lnSpc>
              <a:buNone/>
            </a:pPr>
            <a:r>
              <a:rPr lang="en-US" sz="1300" dirty="0">
                <a:solidFill>
                  <a:srgbClr val="48505C"/>
                </a:solidFill>
                <a:latin typeface="Calibri" pitchFamily="34" charset="0"/>
                <a:ea typeface="Calibri" pitchFamily="34" charset="-122"/>
                <a:cs typeface="Calibri" pitchFamily="34" charset="-120"/>
              </a:rPr>
              <a:t>Swati Srivastava, Founder &amp; CEO, CodeAlpha</a:t>
            </a:r>
            <a:endParaRPr lang="en-US" sz="1300" dirty="0"/>
          </a:p>
        </p:txBody>
      </p:sp>
      <p:sp>
        <p:nvSpPr>
          <p:cNvPr id="20" name="Text 18"/>
          <p:cNvSpPr/>
          <p:nvPr/>
        </p:nvSpPr>
        <p:spPr>
          <a:xfrm>
            <a:off x="502920" y="6537960"/>
            <a:ext cx="7315200" cy="274320"/>
          </a:xfrm>
          <a:prstGeom prst="rect">
            <a:avLst/>
          </a:prstGeom>
          <a:noFill/>
          <a:ln/>
        </p:spPr>
        <p:txBody>
          <a:bodyPr wrap="square" rtlCol="0" anchor="ctr"/>
          <a:lstStyle/>
          <a:p>
            <a:pPr indent="0" marL="0">
              <a:buNone/>
            </a:pPr>
            <a:r>
              <a:rPr lang="en-US" sz="900" dirty="0">
                <a:solidFill>
                  <a:srgbClr val="9AA3AF"/>
                </a:solidFill>
                <a:latin typeface="Calibri" pitchFamily="34" charset="0"/>
                <a:ea typeface="Calibri" pitchFamily="34" charset="-122"/>
                <a:cs typeface="Calibri" pitchFamily="34" charset="-120"/>
              </a:rPr>
              <a:t>Aditya Agrawal  |  CodeAlpha C++ Programming Internship</a:t>
            </a:r>
            <a:endParaRPr lang="en-US" sz="900" dirty="0"/>
          </a:p>
        </p:txBody>
      </p:sp>
      <p:sp>
        <p:nvSpPr>
          <p:cNvPr id="21" name="Text 19"/>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9A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640080"/>
          </a:xfrm>
          <a:prstGeom prst="rect">
            <a:avLst/>
          </a:prstGeom>
          <a:noFill/>
          <a:ln/>
        </p:spPr>
        <p:txBody>
          <a:bodyPr wrap="square" rtlCol="0" anchor="ctr"/>
          <a:lstStyle/>
          <a:p>
            <a:pPr indent="0" marL="0">
              <a:buNone/>
            </a:pPr>
            <a:r>
              <a:rPr lang="en-US" sz="2600" b="1" dirty="0">
                <a:solidFill>
                  <a:srgbClr val="0B1B3A"/>
                </a:solidFill>
                <a:latin typeface="Cambria" pitchFamily="34" charset="0"/>
                <a:ea typeface="Cambria" pitchFamily="34" charset="-122"/>
                <a:cs typeface="Cambria" pitchFamily="34" charset="-120"/>
              </a:rPr>
              <a:t>Organization Profile</a:t>
            </a:r>
            <a:endParaRPr lang="en-US" sz="2600" dirty="0"/>
          </a:p>
        </p:txBody>
      </p:sp>
      <p:sp>
        <p:nvSpPr>
          <p:cNvPr id="3" name="Shape 1"/>
          <p:cNvSpPr/>
          <p:nvPr/>
        </p:nvSpPr>
        <p:spPr>
          <a:xfrm>
            <a:off x="502920" y="960120"/>
            <a:ext cx="11155680" cy="41148"/>
          </a:xfrm>
          <a:prstGeom prst="rect">
            <a:avLst/>
          </a:prstGeom>
          <a:solidFill>
            <a:srgbClr val="2F5FE0"/>
          </a:solidFill>
          <a:ln/>
        </p:spPr>
      </p:sp>
      <p:sp>
        <p:nvSpPr>
          <p:cNvPr id="4" name="Text 2"/>
          <p:cNvSpPr/>
          <p:nvPr/>
        </p:nvSpPr>
        <p:spPr>
          <a:xfrm>
            <a:off x="502920" y="1280160"/>
            <a:ext cx="11155680" cy="1005840"/>
          </a:xfrm>
          <a:prstGeom prst="rect">
            <a:avLst/>
          </a:prstGeom>
          <a:noFill/>
          <a:ln/>
        </p:spPr>
        <p:txBody>
          <a:bodyPr wrap="square" rtlCol="0" anchor="t"/>
          <a:lstStyle/>
          <a:p>
            <a:pPr indent="0" marL="0">
              <a:lnSpc>
                <a:spcPts val="2000"/>
              </a:lnSpc>
              <a:buNone/>
            </a:pPr>
            <a:r>
              <a:rPr lang="en-US" sz="1400" dirty="0">
                <a:solidFill>
                  <a:srgbClr val="48505C"/>
                </a:solidFill>
                <a:latin typeface="Calibri" pitchFamily="34" charset="0"/>
                <a:ea typeface="Calibri" pitchFamily="34" charset="-122"/>
                <a:cs typeface="Calibri" pitchFamily="34" charset="-120"/>
              </a:rPr>
              <a:t>CodeAlpha is a software development company offering virtual internship programs across multiple technology domains, with a focus on innovation, performance, and scalable solutions. The C++ Programming track helps interns master core language concepts, build efficient algorithms, and develop high-performance applications under mentorship.</a:t>
            </a:r>
            <a:endParaRPr lang="en-US" sz="1400" dirty="0"/>
          </a:p>
        </p:txBody>
      </p:sp>
      <p:sp>
        <p:nvSpPr>
          <p:cNvPr id="5" name="Shape 3"/>
          <p:cNvSpPr/>
          <p:nvPr/>
        </p:nvSpPr>
        <p:spPr>
          <a:xfrm>
            <a:off x="502920" y="2514600"/>
            <a:ext cx="3566160" cy="1371600"/>
          </a:xfrm>
          <a:prstGeom prst="roundRect">
            <a:avLst>
              <a:gd name="adj" fmla="val 4000"/>
            </a:avLst>
          </a:prstGeom>
          <a:solidFill>
            <a:srgbClr val="F7F9FC"/>
          </a:solidFill>
          <a:ln w="12700">
            <a:solidFill>
              <a:srgbClr val="E3E7EF"/>
            </a:solidFill>
            <a:prstDash val="solid"/>
          </a:ln>
        </p:spPr>
      </p:sp>
      <p:sp>
        <p:nvSpPr>
          <p:cNvPr id="6" name="Text 4"/>
          <p:cNvSpPr/>
          <p:nvPr/>
        </p:nvSpPr>
        <p:spPr>
          <a:xfrm>
            <a:off x="731520" y="2651760"/>
            <a:ext cx="3108960" cy="1097280"/>
          </a:xfrm>
          <a:prstGeom prst="rect">
            <a:avLst/>
          </a:prstGeom>
          <a:noFill/>
          <a:ln/>
        </p:spPr>
        <p:txBody>
          <a:bodyPr wrap="square" rtlCol="0" anchor="ctr"/>
          <a:lstStyle/>
          <a:p>
            <a:pPr indent="0" marL="0">
              <a:lnSpc>
                <a:spcPts val="1700"/>
              </a:lnSpc>
              <a:buNone/>
            </a:pPr>
            <a:r>
              <a:rPr lang="en-US" sz="1300" b="1" dirty="0">
                <a:solidFill>
                  <a:srgbClr val="0B1B3A"/>
                </a:solidFill>
                <a:latin typeface="Calibri" pitchFamily="34" charset="0"/>
                <a:ea typeface="Calibri" pitchFamily="34" charset="-122"/>
                <a:cs typeface="Calibri" pitchFamily="34" charset="-120"/>
              </a:rPr>
              <a:t>Internship Offer Letter</a:t>
            </a:r>
            <a:endParaRPr lang="en-US" sz="1300" dirty="0"/>
          </a:p>
        </p:txBody>
      </p:sp>
      <p:sp>
        <p:nvSpPr>
          <p:cNvPr id="7" name="Shape 5"/>
          <p:cNvSpPr/>
          <p:nvPr/>
        </p:nvSpPr>
        <p:spPr>
          <a:xfrm>
            <a:off x="4297680" y="2514600"/>
            <a:ext cx="3566160" cy="1371600"/>
          </a:xfrm>
          <a:prstGeom prst="roundRect">
            <a:avLst>
              <a:gd name="adj" fmla="val 4000"/>
            </a:avLst>
          </a:prstGeom>
          <a:solidFill>
            <a:srgbClr val="F7F9FC"/>
          </a:solidFill>
          <a:ln w="12700">
            <a:solidFill>
              <a:srgbClr val="E3E7EF"/>
            </a:solidFill>
            <a:prstDash val="solid"/>
          </a:ln>
        </p:spPr>
      </p:sp>
      <p:sp>
        <p:nvSpPr>
          <p:cNvPr id="8" name="Text 6"/>
          <p:cNvSpPr/>
          <p:nvPr/>
        </p:nvSpPr>
        <p:spPr>
          <a:xfrm>
            <a:off x="4526280" y="2651760"/>
            <a:ext cx="3108960" cy="1097280"/>
          </a:xfrm>
          <a:prstGeom prst="rect">
            <a:avLst/>
          </a:prstGeom>
          <a:noFill/>
          <a:ln/>
        </p:spPr>
        <p:txBody>
          <a:bodyPr wrap="square" rtlCol="0" anchor="ctr"/>
          <a:lstStyle/>
          <a:p>
            <a:pPr indent="0" marL="0">
              <a:lnSpc>
                <a:spcPts val="1700"/>
              </a:lnSpc>
              <a:buNone/>
            </a:pPr>
            <a:r>
              <a:rPr lang="en-US" sz="1300" b="1" dirty="0">
                <a:solidFill>
                  <a:srgbClr val="0B1B3A"/>
                </a:solidFill>
                <a:latin typeface="Calibri" pitchFamily="34" charset="0"/>
                <a:ea typeface="Calibri" pitchFamily="34" charset="-122"/>
                <a:cs typeface="Calibri" pitchFamily="34" charset="-120"/>
              </a:rPr>
              <a:t>Completion Certificate (QR Verified)</a:t>
            </a:r>
            <a:endParaRPr lang="en-US" sz="1300" dirty="0"/>
          </a:p>
        </p:txBody>
      </p:sp>
      <p:sp>
        <p:nvSpPr>
          <p:cNvPr id="9" name="Shape 7"/>
          <p:cNvSpPr/>
          <p:nvPr/>
        </p:nvSpPr>
        <p:spPr>
          <a:xfrm>
            <a:off x="8092440" y="2514600"/>
            <a:ext cx="3566160" cy="1371600"/>
          </a:xfrm>
          <a:prstGeom prst="roundRect">
            <a:avLst>
              <a:gd name="adj" fmla="val 4000"/>
            </a:avLst>
          </a:prstGeom>
          <a:solidFill>
            <a:srgbClr val="F7F9FC"/>
          </a:solidFill>
          <a:ln w="12700">
            <a:solidFill>
              <a:srgbClr val="E3E7EF"/>
            </a:solidFill>
            <a:prstDash val="solid"/>
          </a:ln>
        </p:spPr>
      </p:sp>
      <p:sp>
        <p:nvSpPr>
          <p:cNvPr id="10" name="Text 8"/>
          <p:cNvSpPr/>
          <p:nvPr/>
        </p:nvSpPr>
        <p:spPr>
          <a:xfrm>
            <a:off x="8321040" y="2651760"/>
            <a:ext cx="3108960" cy="1097280"/>
          </a:xfrm>
          <a:prstGeom prst="rect">
            <a:avLst/>
          </a:prstGeom>
          <a:noFill/>
          <a:ln/>
        </p:spPr>
        <p:txBody>
          <a:bodyPr wrap="square" rtlCol="0" anchor="ctr"/>
          <a:lstStyle/>
          <a:p>
            <a:pPr indent="0" marL="0">
              <a:lnSpc>
                <a:spcPts val="1700"/>
              </a:lnSpc>
              <a:buNone/>
            </a:pPr>
            <a:r>
              <a:rPr lang="en-US" sz="1300" b="1" dirty="0">
                <a:solidFill>
                  <a:srgbClr val="0B1B3A"/>
                </a:solidFill>
                <a:latin typeface="Calibri" pitchFamily="34" charset="0"/>
                <a:ea typeface="Calibri" pitchFamily="34" charset="-122"/>
                <a:cs typeface="Calibri" pitchFamily="34" charset="-120"/>
              </a:rPr>
              <a:t>Unique ID Certificate</a:t>
            </a:r>
            <a:endParaRPr lang="en-US" sz="1300" dirty="0"/>
          </a:p>
        </p:txBody>
      </p:sp>
      <p:sp>
        <p:nvSpPr>
          <p:cNvPr id="11" name="Shape 9"/>
          <p:cNvSpPr/>
          <p:nvPr/>
        </p:nvSpPr>
        <p:spPr>
          <a:xfrm>
            <a:off x="502920" y="4114800"/>
            <a:ext cx="3566160" cy="1371600"/>
          </a:xfrm>
          <a:prstGeom prst="roundRect">
            <a:avLst>
              <a:gd name="adj" fmla="val 4000"/>
            </a:avLst>
          </a:prstGeom>
          <a:solidFill>
            <a:srgbClr val="F7F9FC"/>
          </a:solidFill>
          <a:ln w="12700">
            <a:solidFill>
              <a:srgbClr val="E3E7EF"/>
            </a:solidFill>
            <a:prstDash val="solid"/>
          </a:ln>
        </p:spPr>
      </p:sp>
      <p:sp>
        <p:nvSpPr>
          <p:cNvPr id="12" name="Text 10"/>
          <p:cNvSpPr/>
          <p:nvPr/>
        </p:nvSpPr>
        <p:spPr>
          <a:xfrm>
            <a:off x="731520" y="4251960"/>
            <a:ext cx="3108960" cy="1097280"/>
          </a:xfrm>
          <a:prstGeom prst="rect">
            <a:avLst/>
          </a:prstGeom>
          <a:noFill/>
          <a:ln/>
        </p:spPr>
        <p:txBody>
          <a:bodyPr wrap="square" rtlCol="0" anchor="ctr"/>
          <a:lstStyle/>
          <a:p>
            <a:pPr indent="0" marL="0">
              <a:lnSpc>
                <a:spcPts val="1700"/>
              </a:lnSpc>
              <a:buNone/>
            </a:pPr>
            <a:r>
              <a:rPr lang="en-US" sz="1300" b="1" dirty="0">
                <a:solidFill>
                  <a:srgbClr val="0B1B3A"/>
                </a:solidFill>
                <a:latin typeface="Calibri" pitchFamily="34" charset="0"/>
                <a:ea typeface="Calibri" pitchFamily="34" charset="-122"/>
                <a:cs typeface="Calibri" pitchFamily="34" charset="-120"/>
              </a:rPr>
              <a:t>Letter of Recommendation</a:t>
            </a:r>
            <a:endParaRPr lang="en-US" sz="1300" dirty="0"/>
          </a:p>
        </p:txBody>
      </p:sp>
      <p:sp>
        <p:nvSpPr>
          <p:cNvPr id="13" name="Shape 11"/>
          <p:cNvSpPr/>
          <p:nvPr/>
        </p:nvSpPr>
        <p:spPr>
          <a:xfrm>
            <a:off x="4297680" y="4114800"/>
            <a:ext cx="3566160" cy="1371600"/>
          </a:xfrm>
          <a:prstGeom prst="roundRect">
            <a:avLst>
              <a:gd name="adj" fmla="val 4000"/>
            </a:avLst>
          </a:prstGeom>
          <a:solidFill>
            <a:srgbClr val="F7F9FC"/>
          </a:solidFill>
          <a:ln w="12700">
            <a:solidFill>
              <a:srgbClr val="E3E7EF"/>
            </a:solidFill>
            <a:prstDash val="solid"/>
          </a:ln>
        </p:spPr>
      </p:sp>
      <p:sp>
        <p:nvSpPr>
          <p:cNvPr id="14" name="Text 12"/>
          <p:cNvSpPr/>
          <p:nvPr/>
        </p:nvSpPr>
        <p:spPr>
          <a:xfrm>
            <a:off x="4526280" y="4251960"/>
            <a:ext cx="3108960" cy="1097280"/>
          </a:xfrm>
          <a:prstGeom prst="rect">
            <a:avLst/>
          </a:prstGeom>
          <a:noFill/>
          <a:ln/>
        </p:spPr>
        <p:txBody>
          <a:bodyPr wrap="square" rtlCol="0" anchor="ctr"/>
          <a:lstStyle/>
          <a:p>
            <a:pPr indent="0" marL="0">
              <a:lnSpc>
                <a:spcPts val="1700"/>
              </a:lnSpc>
              <a:buNone/>
            </a:pPr>
            <a:r>
              <a:rPr lang="en-US" sz="1300" b="1" dirty="0">
                <a:solidFill>
                  <a:srgbClr val="0B1B3A"/>
                </a:solidFill>
                <a:latin typeface="Calibri" pitchFamily="34" charset="0"/>
                <a:ea typeface="Calibri" pitchFamily="34" charset="-122"/>
                <a:cs typeface="Calibri" pitchFamily="34" charset="-120"/>
              </a:rPr>
              <a:t>Job Opportunities / Placement Support</a:t>
            </a:r>
            <a:endParaRPr lang="en-US" sz="1300" dirty="0"/>
          </a:p>
        </p:txBody>
      </p:sp>
      <p:sp>
        <p:nvSpPr>
          <p:cNvPr id="15" name="Shape 13"/>
          <p:cNvSpPr/>
          <p:nvPr/>
        </p:nvSpPr>
        <p:spPr>
          <a:xfrm>
            <a:off x="8092440" y="4114800"/>
            <a:ext cx="3566160" cy="1371600"/>
          </a:xfrm>
          <a:prstGeom prst="roundRect">
            <a:avLst>
              <a:gd name="adj" fmla="val 4000"/>
            </a:avLst>
          </a:prstGeom>
          <a:solidFill>
            <a:srgbClr val="F7F9FC"/>
          </a:solidFill>
          <a:ln w="12700">
            <a:solidFill>
              <a:srgbClr val="E3E7EF"/>
            </a:solidFill>
            <a:prstDash val="solid"/>
          </a:ln>
        </p:spPr>
      </p:sp>
      <p:sp>
        <p:nvSpPr>
          <p:cNvPr id="16" name="Text 14"/>
          <p:cNvSpPr/>
          <p:nvPr/>
        </p:nvSpPr>
        <p:spPr>
          <a:xfrm>
            <a:off x="8321040" y="4251960"/>
            <a:ext cx="3108960" cy="1097280"/>
          </a:xfrm>
          <a:prstGeom prst="rect">
            <a:avLst/>
          </a:prstGeom>
          <a:noFill/>
          <a:ln/>
        </p:spPr>
        <p:txBody>
          <a:bodyPr wrap="square" rtlCol="0" anchor="ctr"/>
          <a:lstStyle/>
          <a:p>
            <a:pPr indent="0" marL="0">
              <a:lnSpc>
                <a:spcPts val="1700"/>
              </a:lnSpc>
              <a:buNone/>
            </a:pPr>
            <a:r>
              <a:rPr lang="en-US" sz="1300" b="1" dirty="0">
                <a:solidFill>
                  <a:srgbClr val="0B1B3A"/>
                </a:solidFill>
                <a:latin typeface="Calibri" pitchFamily="34" charset="0"/>
                <a:ea typeface="Calibri" pitchFamily="34" charset="-122"/>
                <a:cs typeface="Calibri" pitchFamily="34" charset="-120"/>
              </a:rPr>
              <a:t>Resume Building Support</a:t>
            </a:r>
            <a:endParaRPr lang="en-US" sz="1300" dirty="0"/>
          </a:p>
        </p:txBody>
      </p:sp>
      <p:sp>
        <p:nvSpPr>
          <p:cNvPr id="17" name="Text 15"/>
          <p:cNvSpPr/>
          <p:nvPr/>
        </p:nvSpPr>
        <p:spPr>
          <a:xfrm>
            <a:off x="502920" y="6537960"/>
            <a:ext cx="7315200" cy="274320"/>
          </a:xfrm>
          <a:prstGeom prst="rect">
            <a:avLst/>
          </a:prstGeom>
          <a:noFill/>
          <a:ln/>
        </p:spPr>
        <p:txBody>
          <a:bodyPr wrap="square" rtlCol="0" anchor="ctr"/>
          <a:lstStyle/>
          <a:p>
            <a:pPr indent="0" marL="0">
              <a:buNone/>
            </a:pPr>
            <a:r>
              <a:rPr lang="en-US" sz="900" dirty="0">
                <a:solidFill>
                  <a:srgbClr val="9AA3AF"/>
                </a:solidFill>
                <a:latin typeface="Calibri" pitchFamily="34" charset="0"/>
                <a:ea typeface="Calibri" pitchFamily="34" charset="-122"/>
                <a:cs typeface="Calibri" pitchFamily="34" charset="-120"/>
              </a:rPr>
              <a:t>Aditya Agrawal  |  CodeAlpha C++ Programming Internship</a:t>
            </a:r>
            <a:endParaRPr lang="en-US" sz="900" dirty="0"/>
          </a:p>
        </p:txBody>
      </p:sp>
      <p:sp>
        <p:nvSpPr>
          <p:cNvPr id="18" name="Text 16"/>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9A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640080"/>
          </a:xfrm>
          <a:prstGeom prst="rect">
            <a:avLst/>
          </a:prstGeom>
          <a:noFill/>
          <a:ln/>
        </p:spPr>
        <p:txBody>
          <a:bodyPr wrap="square" rtlCol="0" anchor="ctr"/>
          <a:lstStyle/>
          <a:p>
            <a:pPr indent="0" marL="0">
              <a:buNone/>
            </a:pPr>
            <a:r>
              <a:rPr lang="en-US" sz="2600" b="1" dirty="0">
                <a:solidFill>
                  <a:srgbClr val="0B1B3A"/>
                </a:solidFill>
                <a:latin typeface="Cambria" pitchFamily="34" charset="0"/>
                <a:ea typeface="Cambria" pitchFamily="34" charset="-122"/>
                <a:cs typeface="Cambria" pitchFamily="34" charset="-120"/>
              </a:rPr>
              <a:t>Problem Statement</a:t>
            </a:r>
            <a:endParaRPr lang="en-US" sz="2600" dirty="0"/>
          </a:p>
        </p:txBody>
      </p:sp>
      <p:sp>
        <p:nvSpPr>
          <p:cNvPr id="3" name="Shape 1"/>
          <p:cNvSpPr/>
          <p:nvPr/>
        </p:nvSpPr>
        <p:spPr>
          <a:xfrm>
            <a:off x="502920" y="960120"/>
            <a:ext cx="11155680" cy="41148"/>
          </a:xfrm>
          <a:prstGeom prst="rect">
            <a:avLst/>
          </a:prstGeom>
          <a:solidFill>
            <a:srgbClr val="2F5FE0"/>
          </a:solidFill>
          <a:ln/>
        </p:spPr>
      </p:sp>
      <p:sp>
        <p:nvSpPr>
          <p:cNvPr id="4" name="Text 2"/>
          <p:cNvSpPr/>
          <p:nvPr/>
        </p:nvSpPr>
        <p:spPr>
          <a:xfrm>
            <a:off x="502920" y="1280160"/>
            <a:ext cx="11155680" cy="822960"/>
          </a:xfrm>
          <a:prstGeom prst="rect">
            <a:avLst/>
          </a:prstGeom>
          <a:noFill/>
          <a:ln/>
        </p:spPr>
        <p:txBody>
          <a:bodyPr wrap="square" rtlCol="0" anchor="t"/>
          <a:lstStyle/>
          <a:p>
            <a:pPr indent="0" marL="0">
              <a:lnSpc>
                <a:spcPts val="1900"/>
              </a:lnSpc>
              <a:buNone/>
            </a:pPr>
            <a:r>
              <a:rPr lang="en-US" sz="1400" dirty="0">
                <a:solidFill>
                  <a:srgbClr val="48505C"/>
                </a:solidFill>
                <a:latin typeface="Calibri" pitchFamily="34" charset="0"/>
                <a:ea typeface="Calibri" pitchFamily="34" charset="-122"/>
                <a:cs typeface="Calibri" pitchFamily="34" charset="-120"/>
              </a:rPr>
              <a:t>Students often learn programming through isolated textbook exercises that do not reflect how software is actually designed, built, tested, and documented in practice. The internship addressed this by requiring fully working, independently testable C++ console applications solving realistic problems.</a:t>
            </a:r>
            <a:endParaRPr lang="en-US" sz="1400" dirty="0"/>
          </a:p>
        </p:txBody>
      </p:sp>
      <p:sp>
        <p:nvSpPr>
          <p:cNvPr id="5" name="Shape 3"/>
          <p:cNvSpPr/>
          <p:nvPr/>
        </p:nvSpPr>
        <p:spPr>
          <a:xfrm>
            <a:off x="502920" y="2377440"/>
            <a:ext cx="3611880" cy="2011680"/>
          </a:xfrm>
          <a:prstGeom prst="roundRect">
            <a:avLst>
              <a:gd name="adj" fmla="val 2727"/>
            </a:avLst>
          </a:prstGeom>
          <a:solidFill>
            <a:srgbClr val="F7F9FC"/>
          </a:solidFill>
          <a:ln w="12700">
            <a:solidFill>
              <a:srgbClr val="E3E7EF"/>
            </a:solidFill>
            <a:prstDash val="solid"/>
          </a:ln>
        </p:spPr>
      </p:sp>
      <p:sp>
        <p:nvSpPr>
          <p:cNvPr id="6" name="Shape 4"/>
          <p:cNvSpPr/>
          <p:nvPr/>
        </p:nvSpPr>
        <p:spPr>
          <a:xfrm>
            <a:off x="502920" y="2377440"/>
            <a:ext cx="54864" cy="2011680"/>
          </a:xfrm>
          <a:prstGeom prst="rect">
            <a:avLst/>
          </a:prstGeom>
          <a:solidFill>
            <a:srgbClr val="2F5FE0"/>
          </a:solidFill>
          <a:ln/>
        </p:spPr>
      </p:sp>
      <p:sp>
        <p:nvSpPr>
          <p:cNvPr id="7" name="Text 5"/>
          <p:cNvSpPr/>
          <p:nvPr/>
        </p:nvSpPr>
        <p:spPr>
          <a:xfrm>
            <a:off x="777240" y="2560320"/>
            <a:ext cx="3108960" cy="365760"/>
          </a:xfrm>
          <a:prstGeom prst="rect">
            <a:avLst/>
          </a:prstGeom>
          <a:noFill/>
          <a:ln/>
        </p:spPr>
        <p:txBody>
          <a:bodyPr wrap="square" rtlCol="0" anchor="ctr"/>
          <a:lstStyle/>
          <a:p>
            <a:pPr indent="0" marL="0">
              <a:buNone/>
            </a:pPr>
            <a:r>
              <a:rPr lang="en-US" sz="1500" b="1" dirty="0">
                <a:solidFill>
                  <a:srgbClr val="0B1B3A"/>
                </a:solidFill>
                <a:latin typeface="Cambria" pitchFamily="34" charset="0"/>
                <a:ea typeface="Cambria" pitchFamily="34" charset="-122"/>
                <a:cs typeface="Cambria" pitchFamily="34" charset="-120"/>
              </a:rPr>
              <a:t>CGPA Calculator</a:t>
            </a:r>
            <a:endParaRPr lang="en-US" sz="1500" dirty="0"/>
          </a:p>
        </p:txBody>
      </p:sp>
      <p:sp>
        <p:nvSpPr>
          <p:cNvPr id="8" name="Text 6"/>
          <p:cNvSpPr/>
          <p:nvPr/>
        </p:nvSpPr>
        <p:spPr>
          <a:xfrm>
            <a:off x="777240" y="3017520"/>
            <a:ext cx="3108960" cy="1234440"/>
          </a:xfrm>
          <a:prstGeom prst="rect">
            <a:avLst/>
          </a:prstGeom>
          <a:noFill/>
          <a:ln/>
        </p:spPr>
        <p:txBody>
          <a:bodyPr wrap="square" rtlCol="0" anchor="t"/>
          <a:lstStyle/>
          <a:p>
            <a:pPr indent="0" marL="0">
              <a:lnSpc>
                <a:spcPts val="1700"/>
              </a:lnSpc>
              <a:buNone/>
            </a:pPr>
            <a:r>
              <a:rPr lang="en-US" sz="1250" dirty="0">
                <a:solidFill>
                  <a:srgbClr val="48505C"/>
                </a:solidFill>
                <a:latin typeface="Calibri" pitchFamily="34" charset="0"/>
                <a:ea typeface="Calibri" pitchFamily="34" charset="-122"/>
                <a:cs typeface="Calibri" pitchFamily="34" charset="-120"/>
              </a:rPr>
              <a:t>Manually calculating GPA/CGPA across semesters is repetitive and error-prone.</a:t>
            </a:r>
            <a:endParaRPr lang="en-US" sz="1250" dirty="0"/>
          </a:p>
        </p:txBody>
      </p:sp>
      <p:sp>
        <p:nvSpPr>
          <p:cNvPr id="9" name="Shape 7"/>
          <p:cNvSpPr/>
          <p:nvPr/>
        </p:nvSpPr>
        <p:spPr>
          <a:xfrm>
            <a:off x="4343400" y="2377440"/>
            <a:ext cx="3611880" cy="2011680"/>
          </a:xfrm>
          <a:prstGeom prst="roundRect">
            <a:avLst>
              <a:gd name="adj" fmla="val 2727"/>
            </a:avLst>
          </a:prstGeom>
          <a:solidFill>
            <a:srgbClr val="F7F9FC"/>
          </a:solidFill>
          <a:ln w="12700">
            <a:solidFill>
              <a:srgbClr val="E3E7EF"/>
            </a:solidFill>
            <a:prstDash val="solid"/>
          </a:ln>
        </p:spPr>
      </p:sp>
      <p:sp>
        <p:nvSpPr>
          <p:cNvPr id="10" name="Shape 8"/>
          <p:cNvSpPr/>
          <p:nvPr/>
        </p:nvSpPr>
        <p:spPr>
          <a:xfrm>
            <a:off x="4343400" y="2377440"/>
            <a:ext cx="54864" cy="2011680"/>
          </a:xfrm>
          <a:prstGeom prst="rect">
            <a:avLst/>
          </a:prstGeom>
          <a:solidFill>
            <a:srgbClr val="2F5FE0"/>
          </a:solidFill>
          <a:ln/>
        </p:spPr>
      </p:sp>
      <p:sp>
        <p:nvSpPr>
          <p:cNvPr id="11" name="Text 9"/>
          <p:cNvSpPr/>
          <p:nvPr/>
        </p:nvSpPr>
        <p:spPr>
          <a:xfrm>
            <a:off x="4617720" y="2560320"/>
            <a:ext cx="3108960" cy="365760"/>
          </a:xfrm>
          <a:prstGeom prst="rect">
            <a:avLst/>
          </a:prstGeom>
          <a:noFill/>
          <a:ln/>
        </p:spPr>
        <p:txBody>
          <a:bodyPr wrap="square" rtlCol="0" anchor="ctr"/>
          <a:lstStyle/>
          <a:p>
            <a:pPr indent="0" marL="0">
              <a:buNone/>
            </a:pPr>
            <a:r>
              <a:rPr lang="en-US" sz="1500" b="1" dirty="0">
                <a:solidFill>
                  <a:srgbClr val="0B1B3A"/>
                </a:solidFill>
                <a:latin typeface="Cambria" pitchFamily="34" charset="0"/>
                <a:ea typeface="Cambria" pitchFamily="34" charset="-122"/>
                <a:cs typeface="Cambria" pitchFamily="34" charset="-120"/>
              </a:rPr>
              <a:t>Banking System</a:t>
            </a:r>
            <a:endParaRPr lang="en-US" sz="1500" dirty="0"/>
          </a:p>
        </p:txBody>
      </p:sp>
      <p:sp>
        <p:nvSpPr>
          <p:cNvPr id="12" name="Text 10"/>
          <p:cNvSpPr/>
          <p:nvPr/>
        </p:nvSpPr>
        <p:spPr>
          <a:xfrm>
            <a:off x="4617720" y="3017520"/>
            <a:ext cx="3108960" cy="1234440"/>
          </a:xfrm>
          <a:prstGeom prst="rect">
            <a:avLst/>
          </a:prstGeom>
          <a:noFill/>
          <a:ln/>
        </p:spPr>
        <p:txBody>
          <a:bodyPr wrap="square" rtlCol="0" anchor="t"/>
          <a:lstStyle/>
          <a:p>
            <a:pPr indent="0" marL="0">
              <a:lnSpc>
                <a:spcPts val="1700"/>
              </a:lnSpc>
              <a:buNone/>
            </a:pPr>
            <a:r>
              <a:rPr lang="en-US" sz="1250" dirty="0">
                <a:solidFill>
                  <a:srgbClr val="48505C"/>
                </a:solidFill>
                <a:latin typeface="Calibri" pitchFamily="34" charset="0"/>
                <a:ea typeface="Calibri" pitchFamily="34" charset="-122"/>
                <a:cs typeface="Calibri" pitchFamily="34" charset="-120"/>
              </a:rPr>
              <a:t>Banks need safe deposit/withdrawal handling, fund transfers, and accurate transaction history.</a:t>
            </a:r>
            <a:endParaRPr lang="en-US" sz="1250" dirty="0"/>
          </a:p>
        </p:txBody>
      </p:sp>
      <p:sp>
        <p:nvSpPr>
          <p:cNvPr id="13" name="Shape 11"/>
          <p:cNvSpPr/>
          <p:nvPr/>
        </p:nvSpPr>
        <p:spPr>
          <a:xfrm>
            <a:off x="8183880" y="2377440"/>
            <a:ext cx="3611880" cy="2011680"/>
          </a:xfrm>
          <a:prstGeom prst="roundRect">
            <a:avLst>
              <a:gd name="adj" fmla="val 2727"/>
            </a:avLst>
          </a:prstGeom>
          <a:solidFill>
            <a:srgbClr val="F7F9FC"/>
          </a:solidFill>
          <a:ln w="12700">
            <a:solidFill>
              <a:srgbClr val="E3E7EF"/>
            </a:solidFill>
            <a:prstDash val="solid"/>
          </a:ln>
        </p:spPr>
      </p:sp>
      <p:sp>
        <p:nvSpPr>
          <p:cNvPr id="14" name="Shape 12"/>
          <p:cNvSpPr/>
          <p:nvPr/>
        </p:nvSpPr>
        <p:spPr>
          <a:xfrm>
            <a:off x="8183880" y="2377440"/>
            <a:ext cx="54864" cy="2011680"/>
          </a:xfrm>
          <a:prstGeom prst="rect">
            <a:avLst/>
          </a:prstGeom>
          <a:solidFill>
            <a:srgbClr val="2F5FE0"/>
          </a:solidFill>
          <a:ln/>
        </p:spPr>
      </p:sp>
      <p:sp>
        <p:nvSpPr>
          <p:cNvPr id="15" name="Text 13"/>
          <p:cNvSpPr/>
          <p:nvPr/>
        </p:nvSpPr>
        <p:spPr>
          <a:xfrm>
            <a:off x="8458200" y="2560320"/>
            <a:ext cx="3108960" cy="365760"/>
          </a:xfrm>
          <a:prstGeom prst="rect">
            <a:avLst/>
          </a:prstGeom>
          <a:noFill/>
          <a:ln/>
        </p:spPr>
        <p:txBody>
          <a:bodyPr wrap="square" rtlCol="0" anchor="ctr"/>
          <a:lstStyle/>
          <a:p>
            <a:pPr indent="0" marL="0">
              <a:buNone/>
            </a:pPr>
            <a:r>
              <a:rPr lang="en-US" sz="1500" b="1" dirty="0">
                <a:solidFill>
                  <a:srgbClr val="0B1B3A"/>
                </a:solidFill>
                <a:latin typeface="Cambria" pitchFamily="34" charset="0"/>
                <a:ea typeface="Cambria" pitchFamily="34" charset="-122"/>
                <a:cs typeface="Cambria" pitchFamily="34" charset="-120"/>
              </a:rPr>
              <a:t>Sudoku Solver</a:t>
            </a:r>
            <a:endParaRPr lang="en-US" sz="1500" dirty="0"/>
          </a:p>
        </p:txBody>
      </p:sp>
      <p:sp>
        <p:nvSpPr>
          <p:cNvPr id="16" name="Text 14"/>
          <p:cNvSpPr/>
          <p:nvPr/>
        </p:nvSpPr>
        <p:spPr>
          <a:xfrm>
            <a:off x="8458200" y="3017520"/>
            <a:ext cx="3108960" cy="1234440"/>
          </a:xfrm>
          <a:prstGeom prst="rect">
            <a:avLst/>
          </a:prstGeom>
          <a:noFill/>
          <a:ln/>
        </p:spPr>
        <p:txBody>
          <a:bodyPr wrap="square" rtlCol="0" anchor="t"/>
          <a:lstStyle/>
          <a:p>
            <a:pPr indent="0" marL="0">
              <a:lnSpc>
                <a:spcPts val="1700"/>
              </a:lnSpc>
              <a:buNone/>
            </a:pPr>
            <a:r>
              <a:rPr lang="en-US" sz="1250" dirty="0">
                <a:solidFill>
                  <a:srgbClr val="48505C"/>
                </a:solidFill>
                <a:latin typeface="Calibri" pitchFamily="34" charset="0"/>
                <a:ea typeface="Calibri" pitchFamily="34" charset="-122"/>
                <a:cs typeface="Calibri" pitchFamily="34" charset="-120"/>
              </a:rPr>
              <a:t>Solving Sudoku by hand is slow and error-prone for harder puzzles.</a:t>
            </a:r>
            <a:endParaRPr lang="en-US" sz="1250" dirty="0"/>
          </a:p>
        </p:txBody>
      </p:sp>
      <p:sp>
        <p:nvSpPr>
          <p:cNvPr id="17" name="Text 15"/>
          <p:cNvSpPr/>
          <p:nvPr/>
        </p:nvSpPr>
        <p:spPr>
          <a:xfrm>
            <a:off x="502920" y="6537960"/>
            <a:ext cx="7315200" cy="274320"/>
          </a:xfrm>
          <a:prstGeom prst="rect">
            <a:avLst/>
          </a:prstGeom>
          <a:noFill/>
          <a:ln/>
        </p:spPr>
        <p:txBody>
          <a:bodyPr wrap="square" rtlCol="0" anchor="ctr"/>
          <a:lstStyle/>
          <a:p>
            <a:pPr indent="0" marL="0">
              <a:buNone/>
            </a:pPr>
            <a:r>
              <a:rPr lang="en-US" sz="900" dirty="0">
                <a:solidFill>
                  <a:srgbClr val="9AA3AF"/>
                </a:solidFill>
                <a:latin typeface="Calibri" pitchFamily="34" charset="0"/>
                <a:ea typeface="Calibri" pitchFamily="34" charset="-122"/>
                <a:cs typeface="Calibri" pitchFamily="34" charset="-120"/>
              </a:rPr>
              <a:t>Aditya Agrawal  |  CodeAlpha C++ Programming Internship</a:t>
            </a:r>
            <a:endParaRPr lang="en-US" sz="900" dirty="0"/>
          </a:p>
        </p:txBody>
      </p:sp>
      <p:sp>
        <p:nvSpPr>
          <p:cNvPr id="18" name="Text 16"/>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9A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640080"/>
          </a:xfrm>
          <a:prstGeom prst="rect">
            <a:avLst/>
          </a:prstGeom>
          <a:noFill/>
          <a:ln/>
        </p:spPr>
        <p:txBody>
          <a:bodyPr wrap="square" rtlCol="0" anchor="ctr"/>
          <a:lstStyle/>
          <a:p>
            <a:pPr indent="0" marL="0">
              <a:buNone/>
            </a:pPr>
            <a:r>
              <a:rPr lang="en-US" sz="2600" b="1" dirty="0">
                <a:solidFill>
                  <a:srgbClr val="0B1B3A"/>
                </a:solidFill>
                <a:latin typeface="Cambria" pitchFamily="34" charset="0"/>
                <a:ea typeface="Cambria" pitchFamily="34" charset="-122"/>
                <a:cs typeface="Cambria" pitchFamily="34" charset="-120"/>
              </a:rPr>
              <a:t>Project Objectives</a:t>
            </a:r>
            <a:endParaRPr lang="en-US" sz="2600" dirty="0"/>
          </a:p>
        </p:txBody>
      </p:sp>
      <p:sp>
        <p:nvSpPr>
          <p:cNvPr id="3" name="Shape 1"/>
          <p:cNvSpPr/>
          <p:nvPr/>
        </p:nvSpPr>
        <p:spPr>
          <a:xfrm>
            <a:off x="502920" y="960120"/>
            <a:ext cx="11155680" cy="41148"/>
          </a:xfrm>
          <a:prstGeom prst="rect">
            <a:avLst/>
          </a:prstGeom>
          <a:solidFill>
            <a:srgbClr val="2F5FE0"/>
          </a:solidFill>
          <a:ln/>
        </p:spPr>
      </p:sp>
      <p:sp>
        <p:nvSpPr>
          <p:cNvPr id="4" name="Shape 2"/>
          <p:cNvSpPr/>
          <p:nvPr/>
        </p:nvSpPr>
        <p:spPr>
          <a:xfrm>
            <a:off x="502920" y="1371600"/>
            <a:ext cx="5440680" cy="1417320"/>
          </a:xfrm>
          <a:prstGeom prst="roundRect">
            <a:avLst>
              <a:gd name="adj" fmla="val 3871"/>
            </a:avLst>
          </a:prstGeom>
          <a:solidFill>
            <a:srgbClr val="F7F9FC"/>
          </a:solidFill>
          <a:ln w="12700">
            <a:solidFill>
              <a:srgbClr val="E3E7EF"/>
            </a:solidFill>
            <a:prstDash val="solid"/>
          </a:ln>
        </p:spPr>
      </p:sp>
      <p:sp>
        <p:nvSpPr>
          <p:cNvPr id="5" name="Shape 3"/>
          <p:cNvSpPr/>
          <p:nvPr/>
        </p:nvSpPr>
        <p:spPr>
          <a:xfrm>
            <a:off x="731520" y="1600200"/>
            <a:ext cx="457200" cy="457200"/>
          </a:xfrm>
          <a:prstGeom prst="ellipse">
            <a:avLst/>
          </a:prstGeom>
          <a:solidFill>
            <a:srgbClr val="2F5FE0"/>
          </a:solidFill>
          <a:ln/>
        </p:spPr>
      </p:sp>
      <p:sp>
        <p:nvSpPr>
          <p:cNvPr id="6" name="Text 4"/>
          <p:cNvSpPr/>
          <p:nvPr/>
        </p:nvSpPr>
        <p:spPr>
          <a:xfrm>
            <a:off x="731520" y="16002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371600" y="1508760"/>
            <a:ext cx="4343400" cy="1143000"/>
          </a:xfrm>
          <a:prstGeom prst="rect">
            <a:avLst/>
          </a:prstGeom>
          <a:noFill/>
          <a:ln/>
        </p:spPr>
        <p:txBody>
          <a:bodyPr wrap="square" rtlCol="0" anchor="ctr"/>
          <a:lstStyle/>
          <a:p>
            <a:pPr indent="0" marL="0">
              <a:lnSpc>
                <a:spcPts val="1700"/>
              </a:lnSpc>
              <a:buNone/>
            </a:pPr>
            <a:r>
              <a:rPr lang="en-US" sz="1300" dirty="0">
                <a:solidFill>
                  <a:srgbClr val="0B1B3A"/>
                </a:solidFill>
                <a:latin typeface="Calibri" pitchFamily="34" charset="0"/>
                <a:ea typeface="Calibri" pitchFamily="34" charset="-122"/>
                <a:cs typeface="Calibri" pitchFamily="34" charset="-120"/>
              </a:rPr>
              <a:t>Gain hands-on C++ experience beyond coursework</a:t>
            </a:r>
            <a:endParaRPr lang="en-US" sz="1300" dirty="0"/>
          </a:p>
        </p:txBody>
      </p:sp>
      <p:sp>
        <p:nvSpPr>
          <p:cNvPr id="8" name="Shape 6"/>
          <p:cNvSpPr/>
          <p:nvPr/>
        </p:nvSpPr>
        <p:spPr>
          <a:xfrm>
            <a:off x="6217920" y="1371600"/>
            <a:ext cx="5440680" cy="1417320"/>
          </a:xfrm>
          <a:prstGeom prst="roundRect">
            <a:avLst>
              <a:gd name="adj" fmla="val 3871"/>
            </a:avLst>
          </a:prstGeom>
          <a:solidFill>
            <a:srgbClr val="F7F9FC"/>
          </a:solidFill>
          <a:ln w="12700">
            <a:solidFill>
              <a:srgbClr val="E3E7EF"/>
            </a:solidFill>
            <a:prstDash val="solid"/>
          </a:ln>
        </p:spPr>
      </p:sp>
      <p:sp>
        <p:nvSpPr>
          <p:cNvPr id="9" name="Shape 7"/>
          <p:cNvSpPr/>
          <p:nvPr/>
        </p:nvSpPr>
        <p:spPr>
          <a:xfrm>
            <a:off x="6446520" y="1600200"/>
            <a:ext cx="457200" cy="457200"/>
          </a:xfrm>
          <a:prstGeom prst="ellipse">
            <a:avLst/>
          </a:prstGeom>
          <a:solidFill>
            <a:srgbClr val="2F5FE0"/>
          </a:solidFill>
          <a:ln/>
        </p:spPr>
      </p:sp>
      <p:sp>
        <p:nvSpPr>
          <p:cNvPr id="10" name="Text 8"/>
          <p:cNvSpPr/>
          <p:nvPr/>
        </p:nvSpPr>
        <p:spPr>
          <a:xfrm>
            <a:off x="6446520" y="16002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7086600" y="1508760"/>
            <a:ext cx="4343400" cy="1143000"/>
          </a:xfrm>
          <a:prstGeom prst="rect">
            <a:avLst/>
          </a:prstGeom>
          <a:noFill/>
          <a:ln/>
        </p:spPr>
        <p:txBody>
          <a:bodyPr wrap="square" rtlCol="0" anchor="ctr"/>
          <a:lstStyle/>
          <a:p>
            <a:pPr indent="0" marL="0">
              <a:lnSpc>
                <a:spcPts val="1700"/>
              </a:lnSpc>
              <a:buNone/>
            </a:pPr>
            <a:r>
              <a:rPr lang="en-US" sz="1300" dirty="0">
                <a:solidFill>
                  <a:srgbClr val="0B1B3A"/>
                </a:solidFill>
                <a:latin typeface="Calibri" pitchFamily="34" charset="0"/>
                <a:ea typeface="Calibri" pitchFamily="34" charset="-122"/>
                <a:cs typeface="Calibri" pitchFamily="34" charset="-120"/>
              </a:rPr>
              <a:t>Apply OOP principles to a real project</a:t>
            </a:r>
            <a:endParaRPr lang="en-US" sz="1300" dirty="0"/>
          </a:p>
        </p:txBody>
      </p:sp>
      <p:sp>
        <p:nvSpPr>
          <p:cNvPr id="12" name="Shape 10"/>
          <p:cNvSpPr/>
          <p:nvPr/>
        </p:nvSpPr>
        <p:spPr>
          <a:xfrm>
            <a:off x="502920" y="3017520"/>
            <a:ext cx="5440680" cy="1417320"/>
          </a:xfrm>
          <a:prstGeom prst="roundRect">
            <a:avLst>
              <a:gd name="adj" fmla="val 3871"/>
            </a:avLst>
          </a:prstGeom>
          <a:solidFill>
            <a:srgbClr val="F7F9FC"/>
          </a:solidFill>
          <a:ln w="12700">
            <a:solidFill>
              <a:srgbClr val="E3E7EF"/>
            </a:solidFill>
            <a:prstDash val="solid"/>
          </a:ln>
        </p:spPr>
      </p:sp>
      <p:sp>
        <p:nvSpPr>
          <p:cNvPr id="13" name="Shape 11"/>
          <p:cNvSpPr/>
          <p:nvPr/>
        </p:nvSpPr>
        <p:spPr>
          <a:xfrm>
            <a:off x="731520" y="3246120"/>
            <a:ext cx="457200" cy="457200"/>
          </a:xfrm>
          <a:prstGeom prst="ellipse">
            <a:avLst/>
          </a:prstGeom>
          <a:solidFill>
            <a:srgbClr val="2F5FE0"/>
          </a:solidFill>
          <a:ln/>
        </p:spPr>
      </p:sp>
      <p:sp>
        <p:nvSpPr>
          <p:cNvPr id="14" name="Text 12"/>
          <p:cNvSpPr/>
          <p:nvPr/>
        </p:nvSpPr>
        <p:spPr>
          <a:xfrm>
            <a:off x="731520" y="3246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371600" y="3154680"/>
            <a:ext cx="4343400" cy="1143000"/>
          </a:xfrm>
          <a:prstGeom prst="rect">
            <a:avLst/>
          </a:prstGeom>
          <a:noFill/>
          <a:ln/>
        </p:spPr>
        <p:txBody>
          <a:bodyPr wrap="square" rtlCol="0" anchor="ctr"/>
          <a:lstStyle/>
          <a:p>
            <a:pPr indent="0" marL="0">
              <a:lnSpc>
                <a:spcPts val="1700"/>
              </a:lnSpc>
              <a:buNone/>
            </a:pPr>
            <a:r>
              <a:rPr lang="en-US" sz="1300" dirty="0">
                <a:solidFill>
                  <a:srgbClr val="0B1B3A"/>
                </a:solidFill>
                <a:latin typeface="Calibri" pitchFamily="34" charset="0"/>
                <a:ea typeface="Calibri" pitchFamily="34" charset="-122"/>
                <a:cs typeface="Calibri" pitchFamily="34" charset="-120"/>
              </a:rPr>
              <a:t>Implement a classic algorithm (backtracking)</a:t>
            </a:r>
            <a:endParaRPr lang="en-US" sz="1300" dirty="0"/>
          </a:p>
        </p:txBody>
      </p:sp>
      <p:sp>
        <p:nvSpPr>
          <p:cNvPr id="16" name="Shape 14"/>
          <p:cNvSpPr/>
          <p:nvPr/>
        </p:nvSpPr>
        <p:spPr>
          <a:xfrm>
            <a:off x="6217920" y="3017520"/>
            <a:ext cx="5440680" cy="1417320"/>
          </a:xfrm>
          <a:prstGeom prst="roundRect">
            <a:avLst>
              <a:gd name="adj" fmla="val 3871"/>
            </a:avLst>
          </a:prstGeom>
          <a:solidFill>
            <a:srgbClr val="F7F9FC"/>
          </a:solidFill>
          <a:ln w="12700">
            <a:solidFill>
              <a:srgbClr val="E3E7EF"/>
            </a:solidFill>
            <a:prstDash val="solid"/>
          </a:ln>
        </p:spPr>
      </p:sp>
      <p:sp>
        <p:nvSpPr>
          <p:cNvPr id="17" name="Shape 15"/>
          <p:cNvSpPr/>
          <p:nvPr/>
        </p:nvSpPr>
        <p:spPr>
          <a:xfrm>
            <a:off x="6446520" y="3246120"/>
            <a:ext cx="457200" cy="457200"/>
          </a:xfrm>
          <a:prstGeom prst="ellipse">
            <a:avLst/>
          </a:prstGeom>
          <a:solidFill>
            <a:srgbClr val="2F5FE0"/>
          </a:solidFill>
          <a:ln/>
        </p:spPr>
      </p:sp>
      <p:sp>
        <p:nvSpPr>
          <p:cNvPr id="18" name="Text 16"/>
          <p:cNvSpPr/>
          <p:nvPr/>
        </p:nvSpPr>
        <p:spPr>
          <a:xfrm>
            <a:off x="6446520" y="3246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7086600" y="3154680"/>
            <a:ext cx="4343400" cy="1143000"/>
          </a:xfrm>
          <a:prstGeom prst="rect">
            <a:avLst/>
          </a:prstGeom>
          <a:noFill/>
          <a:ln/>
        </p:spPr>
        <p:txBody>
          <a:bodyPr wrap="square" rtlCol="0" anchor="ctr"/>
          <a:lstStyle/>
          <a:p>
            <a:pPr indent="0" marL="0">
              <a:lnSpc>
                <a:spcPts val="1700"/>
              </a:lnSpc>
              <a:buNone/>
            </a:pPr>
            <a:r>
              <a:rPr lang="en-US" sz="1300" dirty="0">
                <a:solidFill>
                  <a:srgbClr val="0B1B3A"/>
                </a:solidFill>
                <a:latin typeface="Calibri" pitchFamily="34" charset="0"/>
                <a:ea typeface="Calibri" pitchFamily="34" charset="-122"/>
                <a:cs typeface="Calibri" pitchFamily="34" charset="-120"/>
              </a:rPr>
              <a:t>Write clean, validated, modular code</a:t>
            </a:r>
            <a:endParaRPr lang="en-US" sz="1300" dirty="0"/>
          </a:p>
        </p:txBody>
      </p:sp>
      <p:sp>
        <p:nvSpPr>
          <p:cNvPr id="20" name="Shape 18"/>
          <p:cNvSpPr/>
          <p:nvPr/>
        </p:nvSpPr>
        <p:spPr>
          <a:xfrm>
            <a:off x="502920" y="4663440"/>
            <a:ext cx="5440680" cy="1417320"/>
          </a:xfrm>
          <a:prstGeom prst="roundRect">
            <a:avLst>
              <a:gd name="adj" fmla="val 3871"/>
            </a:avLst>
          </a:prstGeom>
          <a:solidFill>
            <a:srgbClr val="F7F9FC"/>
          </a:solidFill>
          <a:ln w="12700">
            <a:solidFill>
              <a:srgbClr val="E3E7EF"/>
            </a:solidFill>
            <a:prstDash val="solid"/>
          </a:ln>
        </p:spPr>
      </p:sp>
      <p:sp>
        <p:nvSpPr>
          <p:cNvPr id="21" name="Shape 19"/>
          <p:cNvSpPr/>
          <p:nvPr/>
        </p:nvSpPr>
        <p:spPr>
          <a:xfrm>
            <a:off x="731520" y="4892040"/>
            <a:ext cx="457200" cy="457200"/>
          </a:xfrm>
          <a:prstGeom prst="ellipse">
            <a:avLst/>
          </a:prstGeom>
          <a:solidFill>
            <a:srgbClr val="2F5FE0"/>
          </a:solidFill>
          <a:ln/>
        </p:spPr>
      </p:sp>
      <p:sp>
        <p:nvSpPr>
          <p:cNvPr id="22" name="Text 20"/>
          <p:cNvSpPr/>
          <p:nvPr/>
        </p:nvSpPr>
        <p:spPr>
          <a:xfrm>
            <a:off x="731520" y="48920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1371600" y="4800600"/>
            <a:ext cx="4343400" cy="1143000"/>
          </a:xfrm>
          <a:prstGeom prst="rect">
            <a:avLst/>
          </a:prstGeom>
          <a:noFill/>
          <a:ln/>
        </p:spPr>
        <p:txBody>
          <a:bodyPr wrap="square" rtlCol="0" anchor="ctr"/>
          <a:lstStyle/>
          <a:p>
            <a:pPr indent="0" marL="0">
              <a:lnSpc>
                <a:spcPts val="1700"/>
              </a:lnSpc>
              <a:buNone/>
            </a:pPr>
            <a:r>
              <a:rPr lang="en-US" sz="1300" dirty="0">
                <a:solidFill>
                  <a:srgbClr val="0B1B3A"/>
                </a:solidFill>
                <a:latin typeface="Calibri" pitchFamily="34" charset="0"/>
                <a:ea typeface="Calibri" pitchFamily="34" charset="-122"/>
                <a:cs typeface="Calibri" pitchFamily="34" charset="-120"/>
              </a:rPr>
              <a:t>Practice full dev cycle: design → test → document</a:t>
            </a:r>
            <a:endParaRPr lang="en-US" sz="1300" dirty="0"/>
          </a:p>
        </p:txBody>
      </p:sp>
      <p:sp>
        <p:nvSpPr>
          <p:cNvPr id="24" name="Shape 22"/>
          <p:cNvSpPr/>
          <p:nvPr/>
        </p:nvSpPr>
        <p:spPr>
          <a:xfrm>
            <a:off x="6217920" y="4663440"/>
            <a:ext cx="5440680" cy="1417320"/>
          </a:xfrm>
          <a:prstGeom prst="roundRect">
            <a:avLst>
              <a:gd name="adj" fmla="val 3871"/>
            </a:avLst>
          </a:prstGeom>
          <a:solidFill>
            <a:srgbClr val="F7F9FC"/>
          </a:solidFill>
          <a:ln w="12700">
            <a:solidFill>
              <a:srgbClr val="E3E7EF"/>
            </a:solidFill>
            <a:prstDash val="solid"/>
          </a:ln>
        </p:spPr>
      </p:sp>
      <p:sp>
        <p:nvSpPr>
          <p:cNvPr id="25" name="Shape 23"/>
          <p:cNvSpPr/>
          <p:nvPr/>
        </p:nvSpPr>
        <p:spPr>
          <a:xfrm>
            <a:off x="6446520" y="4892040"/>
            <a:ext cx="457200" cy="457200"/>
          </a:xfrm>
          <a:prstGeom prst="ellipse">
            <a:avLst/>
          </a:prstGeom>
          <a:solidFill>
            <a:srgbClr val="2F5FE0"/>
          </a:solidFill>
          <a:ln/>
        </p:spPr>
      </p:sp>
      <p:sp>
        <p:nvSpPr>
          <p:cNvPr id="26" name="Text 24"/>
          <p:cNvSpPr/>
          <p:nvPr/>
        </p:nvSpPr>
        <p:spPr>
          <a:xfrm>
            <a:off x="6446520" y="48920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7" name="Text 25"/>
          <p:cNvSpPr/>
          <p:nvPr/>
        </p:nvSpPr>
        <p:spPr>
          <a:xfrm>
            <a:off x="7086600" y="4800600"/>
            <a:ext cx="4343400" cy="1143000"/>
          </a:xfrm>
          <a:prstGeom prst="rect">
            <a:avLst/>
          </a:prstGeom>
          <a:noFill/>
          <a:ln/>
        </p:spPr>
        <p:txBody>
          <a:bodyPr wrap="square" rtlCol="0" anchor="ctr"/>
          <a:lstStyle/>
          <a:p>
            <a:pPr indent="0" marL="0">
              <a:lnSpc>
                <a:spcPts val="1700"/>
              </a:lnSpc>
              <a:buNone/>
            </a:pPr>
            <a:r>
              <a:rPr lang="en-US" sz="1300" dirty="0">
                <a:solidFill>
                  <a:srgbClr val="0B1B3A"/>
                </a:solidFill>
                <a:latin typeface="Calibri" pitchFamily="34" charset="0"/>
                <a:ea typeface="Calibri" pitchFamily="34" charset="-122"/>
                <a:cs typeface="Calibri" pitchFamily="34" charset="-120"/>
              </a:rPr>
              <a:t>Build a verifiable, working project portfolio</a:t>
            </a:r>
            <a:endParaRPr lang="en-US" sz="1300" dirty="0"/>
          </a:p>
        </p:txBody>
      </p:sp>
      <p:sp>
        <p:nvSpPr>
          <p:cNvPr id="28" name="Text 26"/>
          <p:cNvSpPr/>
          <p:nvPr/>
        </p:nvSpPr>
        <p:spPr>
          <a:xfrm>
            <a:off x="502920" y="6537960"/>
            <a:ext cx="7315200" cy="274320"/>
          </a:xfrm>
          <a:prstGeom prst="rect">
            <a:avLst/>
          </a:prstGeom>
          <a:noFill/>
          <a:ln/>
        </p:spPr>
        <p:txBody>
          <a:bodyPr wrap="square" rtlCol="0" anchor="ctr"/>
          <a:lstStyle/>
          <a:p>
            <a:pPr indent="0" marL="0">
              <a:buNone/>
            </a:pPr>
            <a:r>
              <a:rPr lang="en-US" sz="900" dirty="0">
                <a:solidFill>
                  <a:srgbClr val="9AA3AF"/>
                </a:solidFill>
                <a:latin typeface="Calibri" pitchFamily="34" charset="0"/>
                <a:ea typeface="Calibri" pitchFamily="34" charset="-122"/>
                <a:cs typeface="Calibri" pitchFamily="34" charset="-120"/>
              </a:rPr>
              <a:t>Aditya Agrawal  |  CodeAlpha C++ Programming Internship</a:t>
            </a:r>
            <a:endParaRPr lang="en-US" sz="900" dirty="0"/>
          </a:p>
        </p:txBody>
      </p:sp>
      <p:sp>
        <p:nvSpPr>
          <p:cNvPr id="29" name="Text 27"/>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9A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640080"/>
          </a:xfrm>
          <a:prstGeom prst="rect">
            <a:avLst/>
          </a:prstGeom>
          <a:noFill/>
          <a:ln/>
        </p:spPr>
        <p:txBody>
          <a:bodyPr wrap="square" rtlCol="0" anchor="ctr"/>
          <a:lstStyle/>
          <a:p>
            <a:pPr indent="0" marL="0">
              <a:buNone/>
            </a:pPr>
            <a:r>
              <a:rPr lang="en-US" sz="2600" b="1" dirty="0">
                <a:solidFill>
                  <a:srgbClr val="0B1B3A"/>
                </a:solidFill>
                <a:latin typeface="Cambria" pitchFamily="34" charset="0"/>
                <a:ea typeface="Cambria" pitchFamily="34" charset="-122"/>
                <a:cs typeface="Cambria" pitchFamily="34" charset="-120"/>
              </a:rPr>
              <a:t>Technologies &amp; Tools Used</a:t>
            </a:r>
            <a:endParaRPr lang="en-US" sz="2600" dirty="0"/>
          </a:p>
        </p:txBody>
      </p:sp>
      <p:sp>
        <p:nvSpPr>
          <p:cNvPr id="3" name="Shape 1"/>
          <p:cNvSpPr/>
          <p:nvPr/>
        </p:nvSpPr>
        <p:spPr>
          <a:xfrm>
            <a:off x="502920" y="960120"/>
            <a:ext cx="11155680" cy="41148"/>
          </a:xfrm>
          <a:prstGeom prst="rect">
            <a:avLst/>
          </a:prstGeom>
          <a:solidFill>
            <a:srgbClr val="2F5FE0"/>
          </a:solidFill>
          <a:ln/>
        </p:spPr>
      </p:sp>
      <p:sp>
        <p:nvSpPr>
          <p:cNvPr id="4" name="Shape 2"/>
          <p:cNvSpPr/>
          <p:nvPr/>
        </p:nvSpPr>
        <p:spPr>
          <a:xfrm>
            <a:off x="502920" y="1371600"/>
            <a:ext cx="3566160" cy="1554480"/>
          </a:xfrm>
          <a:prstGeom prst="roundRect">
            <a:avLst>
              <a:gd name="adj" fmla="val 3529"/>
            </a:avLst>
          </a:prstGeom>
          <a:solidFill>
            <a:srgbClr val="F7F9FC"/>
          </a:solidFill>
          <a:ln w="12700">
            <a:solidFill>
              <a:srgbClr val="E3E7EF"/>
            </a:solidFill>
            <a:prstDash val="solid"/>
          </a:ln>
        </p:spPr>
      </p:sp>
      <p:sp>
        <p:nvSpPr>
          <p:cNvPr id="5" name="Shape 3"/>
          <p:cNvSpPr/>
          <p:nvPr/>
        </p:nvSpPr>
        <p:spPr>
          <a:xfrm>
            <a:off x="502920" y="1371600"/>
            <a:ext cx="54864" cy="1554480"/>
          </a:xfrm>
          <a:prstGeom prst="rect">
            <a:avLst/>
          </a:prstGeom>
          <a:solidFill>
            <a:srgbClr val="2F5FE0"/>
          </a:solidFill>
          <a:ln/>
        </p:spPr>
      </p:sp>
      <p:sp>
        <p:nvSpPr>
          <p:cNvPr id="6" name="Text 4"/>
          <p:cNvSpPr/>
          <p:nvPr/>
        </p:nvSpPr>
        <p:spPr>
          <a:xfrm>
            <a:off x="777240" y="1536192"/>
            <a:ext cx="3063240" cy="365760"/>
          </a:xfrm>
          <a:prstGeom prst="rect">
            <a:avLst/>
          </a:prstGeom>
          <a:noFill/>
          <a:ln/>
        </p:spPr>
        <p:txBody>
          <a:bodyPr wrap="square" rtlCol="0" anchor="ctr"/>
          <a:lstStyle/>
          <a:p>
            <a:pPr indent="0" marL="0">
              <a:buNone/>
            </a:pPr>
            <a:r>
              <a:rPr lang="en-US" sz="1300" b="1" dirty="0">
                <a:solidFill>
                  <a:srgbClr val="2F5FE0"/>
                </a:solidFill>
                <a:latin typeface="Calibri" pitchFamily="34" charset="0"/>
                <a:ea typeface="Calibri" pitchFamily="34" charset="-122"/>
                <a:cs typeface="Calibri" pitchFamily="34" charset="-120"/>
              </a:rPr>
              <a:t>Language</a:t>
            </a:r>
            <a:endParaRPr lang="en-US" sz="1300" dirty="0"/>
          </a:p>
        </p:txBody>
      </p:sp>
      <p:sp>
        <p:nvSpPr>
          <p:cNvPr id="7" name="Text 5"/>
          <p:cNvSpPr/>
          <p:nvPr/>
        </p:nvSpPr>
        <p:spPr>
          <a:xfrm>
            <a:off x="777240" y="1920240"/>
            <a:ext cx="3063240" cy="914400"/>
          </a:xfrm>
          <a:prstGeom prst="rect">
            <a:avLst/>
          </a:prstGeom>
          <a:noFill/>
          <a:ln/>
        </p:spPr>
        <p:txBody>
          <a:bodyPr wrap="square" rtlCol="0" anchor="t"/>
          <a:lstStyle/>
          <a:p>
            <a:pPr indent="0" marL="0">
              <a:lnSpc>
                <a:spcPts val="1600"/>
              </a:lnSpc>
              <a:buNone/>
            </a:pPr>
            <a:r>
              <a:rPr lang="en-US" sz="1300" dirty="0">
                <a:solidFill>
                  <a:srgbClr val="48505C"/>
                </a:solidFill>
                <a:latin typeface="Calibri" pitchFamily="34" charset="0"/>
                <a:ea typeface="Calibri" pitchFamily="34" charset="-122"/>
                <a:cs typeface="Calibri" pitchFamily="34" charset="-120"/>
              </a:rPr>
              <a:t>C++ (C++17 standard)</a:t>
            </a:r>
            <a:endParaRPr lang="en-US" sz="1300" dirty="0"/>
          </a:p>
        </p:txBody>
      </p:sp>
      <p:sp>
        <p:nvSpPr>
          <p:cNvPr id="8" name="Shape 6"/>
          <p:cNvSpPr/>
          <p:nvPr/>
        </p:nvSpPr>
        <p:spPr>
          <a:xfrm>
            <a:off x="4297680" y="1371600"/>
            <a:ext cx="3566160" cy="1554480"/>
          </a:xfrm>
          <a:prstGeom prst="roundRect">
            <a:avLst>
              <a:gd name="adj" fmla="val 3529"/>
            </a:avLst>
          </a:prstGeom>
          <a:solidFill>
            <a:srgbClr val="F7F9FC"/>
          </a:solidFill>
          <a:ln w="12700">
            <a:solidFill>
              <a:srgbClr val="E3E7EF"/>
            </a:solidFill>
            <a:prstDash val="solid"/>
          </a:ln>
        </p:spPr>
      </p:sp>
      <p:sp>
        <p:nvSpPr>
          <p:cNvPr id="9" name="Shape 7"/>
          <p:cNvSpPr/>
          <p:nvPr/>
        </p:nvSpPr>
        <p:spPr>
          <a:xfrm>
            <a:off x="4297680" y="1371600"/>
            <a:ext cx="54864" cy="1554480"/>
          </a:xfrm>
          <a:prstGeom prst="rect">
            <a:avLst/>
          </a:prstGeom>
          <a:solidFill>
            <a:srgbClr val="2F5FE0"/>
          </a:solidFill>
          <a:ln/>
        </p:spPr>
      </p:sp>
      <p:sp>
        <p:nvSpPr>
          <p:cNvPr id="10" name="Text 8"/>
          <p:cNvSpPr/>
          <p:nvPr/>
        </p:nvSpPr>
        <p:spPr>
          <a:xfrm>
            <a:off x="4572000" y="1536192"/>
            <a:ext cx="3063240" cy="365760"/>
          </a:xfrm>
          <a:prstGeom prst="rect">
            <a:avLst/>
          </a:prstGeom>
          <a:noFill/>
          <a:ln/>
        </p:spPr>
        <p:txBody>
          <a:bodyPr wrap="square" rtlCol="0" anchor="ctr"/>
          <a:lstStyle/>
          <a:p>
            <a:pPr indent="0" marL="0">
              <a:buNone/>
            </a:pPr>
            <a:r>
              <a:rPr lang="en-US" sz="1300" b="1" dirty="0">
                <a:solidFill>
                  <a:srgbClr val="2F5FE0"/>
                </a:solidFill>
                <a:latin typeface="Calibri" pitchFamily="34" charset="0"/>
                <a:ea typeface="Calibri" pitchFamily="34" charset="-122"/>
                <a:cs typeface="Calibri" pitchFamily="34" charset="-120"/>
              </a:rPr>
              <a:t>Compiler</a:t>
            </a:r>
            <a:endParaRPr lang="en-US" sz="1300" dirty="0"/>
          </a:p>
        </p:txBody>
      </p:sp>
      <p:sp>
        <p:nvSpPr>
          <p:cNvPr id="11" name="Text 9"/>
          <p:cNvSpPr/>
          <p:nvPr/>
        </p:nvSpPr>
        <p:spPr>
          <a:xfrm>
            <a:off x="4572000" y="1920240"/>
            <a:ext cx="3063240" cy="914400"/>
          </a:xfrm>
          <a:prstGeom prst="rect">
            <a:avLst/>
          </a:prstGeom>
          <a:noFill/>
          <a:ln/>
        </p:spPr>
        <p:txBody>
          <a:bodyPr wrap="square" rtlCol="0" anchor="t"/>
          <a:lstStyle/>
          <a:p>
            <a:pPr indent="0" marL="0">
              <a:lnSpc>
                <a:spcPts val="1600"/>
              </a:lnSpc>
              <a:buNone/>
            </a:pPr>
            <a:r>
              <a:rPr lang="en-US" sz="1300" dirty="0">
                <a:solidFill>
                  <a:srgbClr val="48505C"/>
                </a:solidFill>
                <a:latin typeface="Calibri" pitchFamily="34" charset="0"/>
                <a:ea typeface="Calibri" pitchFamily="34" charset="-122"/>
                <a:cs typeface="Calibri" pitchFamily="34" charset="-120"/>
              </a:rPr>
              <a:t>g++ (GNU Compiler Collection)</a:t>
            </a:r>
            <a:endParaRPr lang="en-US" sz="1300" dirty="0"/>
          </a:p>
        </p:txBody>
      </p:sp>
      <p:sp>
        <p:nvSpPr>
          <p:cNvPr id="12" name="Shape 10"/>
          <p:cNvSpPr/>
          <p:nvPr/>
        </p:nvSpPr>
        <p:spPr>
          <a:xfrm>
            <a:off x="8092440" y="1371600"/>
            <a:ext cx="3566160" cy="1554480"/>
          </a:xfrm>
          <a:prstGeom prst="roundRect">
            <a:avLst>
              <a:gd name="adj" fmla="val 3529"/>
            </a:avLst>
          </a:prstGeom>
          <a:solidFill>
            <a:srgbClr val="F7F9FC"/>
          </a:solidFill>
          <a:ln w="12700">
            <a:solidFill>
              <a:srgbClr val="E3E7EF"/>
            </a:solidFill>
            <a:prstDash val="solid"/>
          </a:ln>
        </p:spPr>
      </p:sp>
      <p:sp>
        <p:nvSpPr>
          <p:cNvPr id="13" name="Shape 11"/>
          <p:cNvSpPr/>
          <p:nvPr/>
        </p:nvSpPr>
        <p:spPr>
          <a:xfrm>
            <a:off x="8092440" y="1371600"/>
            <a:ext cx="54864" cy="1554480"/>
          </a:xfrm>
          <a:prstGeom prst="rect">
            <a:avLst/>
          </a:prstGeom>
          <a:solidFill>
            <a:srgbClr val="2F5FE0"/>
          </a:solidFill>
          <a:ln/>
        </p:spPr>
      </p:sp>
      <p:sp>
        <p:nvSpPr>
          <p:cNvPr id="14" name="Text 12"/>
          <p:cNvSpPr/>
          <p:nvPr/>
        </p:nvSpPr>
        <p:spPr>
          <a:xfrm>
            <a:off x="8366760" y="1536192"/>
            <a:ext cx="3063240" cy="365760"/>
          </a:xfrm>
          <a:prstGeom prst="rect">
            <a:avLst/>
          </a:prstGeom>
          <a:noFill/>
          <a:ln/>
        </p:spPr>
        <p:txBody>
          <a:bodyPr wrap="square" rtlCol="0" anchor="ctr"/>
          <a:lstStyle/>
          <a:p>
            <a:pPr indent="0" marL="0">
              <a:buNone/>
            </a:pPr>
            <a:r>
              <a:rPr lang="en-US" sz="1300" b="1" dirty="0">
                <a:solidFill>
                  <a:srgbClr val="2F5FE0"/>
                </a:solidFill>
                <a:latin typeface="Calibri" pitchFamily="34" charset="0"/>
                <a:ea typeface="Calibri" pitchFamily="34" charset="-122"/>
                <a:cs typeface="Calibri" pitchFamily="34" charset="-120"/>
              </a:rPr>
              <a:t>Editor</a:t>
            </a:r>
            <a:endParaRPr lang="en-US" sz="1300" dirty="0"/>
          </a:p>
        </p:txBody>
      </p:sp>
      <p:sp>
        <p:nvSpPr>
          <p:cNvPr id="15" name="Text 13"/>
          <p:cNvSpPr/>
          <p:nvPr/>
        </p:nvSpPr>
        <p:spPr>
          <a:xfrm>
            <a:off x="8366760" y="1920240"/>
            <a:ext cx="3063240" cy="914400"/>
          </a:xfrm>
          <a:prstGeom prst="rect">
            <a:avLst/>
          </a:prstGeom>
          <a:noFill/>
          <a:ln/>
        </p:spPr>
        <p:txBody>
          <a:bodyPr wrap="square" rtlCol="0" anchor="t"/>
          <a:lstStyle/>
          <a:p>
            <a:pPr indent="0" marL="0">
              <a:lnSpc>
                <a:spcPts val="1600"/>
              </a:lnSpc>
              <a:buNone/>
            </a:pPr>
            <a:r>
              <a:rPr lang="en-US" sz="1300" dirty="0">
                <a:solidFill>
                  <a:srgbClr val="48505C"/>
                </a:solidFill>
                <a:latin typeface="Calibri" pitchFamily="34" charset="0"/>
                <a:ea typeface="Calibri" pitchFamily="34" charset="-122"/>
                <a:cs typeface="Calibri" pitchFamily="34" charset="-120"/>
              </a:rPr>
              <a:t>Visual Studio Code</a:t>
            </a:r>
            <a:endParaRPr lang="en-US" sz="1300" dirty="0"/>
          </a:p>
        </p:txBody>
      </p:sp>
      <p:sp>
        <p:nvSpPr>
          <p:cNvPr id="16" name="Shape 14"/>
          <p:cNvSpPr/>
          <p:nvPr/>
        </p:nvSpPr>
        <p:spPr>
          <a:xfrm>
            <a:off x="502920" y="3154680"/>
            <a:ext cx="3566160" cy="1554480"/>
          </a:xfrm>
          <a:prstGeom prst="roundRect">
            <a:avLst>
              <a:gd name="adj" fmla="val 3529"/>
            </a:avLst>
          </a:prstGeom>
          <a:solidFill>
            <a:srgbClr val="F7F9FC"/>
          </a:solidFill>
          <a:ln w="12700">
            <a:solidFill>
              <a:srgbClr val="E3E7EF"/>
            </a:solidFill>
            <a:prstDash val="solid"/>
          </a:ln>
        </p:spPr>
      </p:sp>
      <p:sp>
        <p:nvSpPr>
          <p:cNvPr id="17" name="Shape 15"/>
          <p:cNvSpPr/>
          <p:nvPr/>
        </p:nvSpPr>
        <p:spPr>
          <a:xfrm>
            <a:off x="502920" y="3154680"/>
            <a:ext cx="54864" cy="1554480"/>
          </a:xfrm>
          <a:prstGeom prst="rect">
            <a:avLst/>
          </a:prstGeom>
          <a:solidFill>
            <a:srgbClr val="2F5FE0"/>
          </a:solidFill>
          <a:ln/>
        </p:spPr>
      </p:sp>
      <p:sp>
        <p:nvSpPr>
          <p:cNvPr id="18" name="Text 16"/>
          <p:cNvSpPr/>
          <p:nvPr/>
        </p:nvSpPr>
        <p:spPr>
          <a:xfrm>
            <a:off x="777240" y="3319272"/>
            <a:ext cx="3063240" cy="365760"/>
          </a:xfrm>
          <a:prstGeom prst="rect">
            <a:avLst/>
          </a:prstGeom>
          <a:noFill/>
          <a:ln/>
        </p:spPr>
        <p:txBody>
          <a:bodyPr wrap="square" rtlCol="0" anchor="ctr"/>
          <a:lstStyle/>
          <a:p>
            <a:pPr indent="0" marL="0">
              <a:buNone/>
            </a:pPr>
            <a:r>
              <a:rPr lang="en-US" sz="1300" b="1" dirty="0">
                <a:solidFill>
                  <a:srgbClr val="2F5FE0"/>
                </a:solidFill>
                <a:latin typeface="Calibri" pitchFamily="34" charset="0"/>
                <a:ea typeface="Calibri" pitchFamily="34" charset="-122"/>
                <a:cs typeface="Calibri" pitchFamily="34" charset="-120"/>
              </a:rPr>
              <a:t>Version Control</a:t>
            </a:r>
            <a:endParaRPr lang="en-US" sz="1300" dirty="0"/>
          </a:p>
        </p:txBody>
      </p:sp>
      <p:sp>
        <p:nvSpPr>
          <p:cNvPr id="19" name="Text 17"/>
          <p:cNvSpPr/>
          <p:nvPr/>
        </p:nvSpPr>
        <p:spPr>
          <a:xfrm>
            <a:off x="777240" y="3703320"/>
            <a:ext cx="3063240" cy="914400"/>
          </a:xfrm>
          <a:prstGeom prst="rect">
            <a:avLst/>
          </a:prstGeom>
          <a:noFill/>
          <a:ln/>
        </p:spPr>
        <p:txBody>
          <a:bodyPr wrap="square" rtlCol="0" anchor="t"/>
          <a:lstStyle/>
          <a:p>
            <a:pPr indent="0" marL="0">
              <a:lnSpc>
                <a:spcPts val="1600"/>
              </a:lnSpc>
              <a:buNone/>
            </a:pPr>
            <a:r>
              <a:rPr lang="en-US" sz="1300" dirty="0">
                <a:solidFill>
                  <a:srgbClr val="48505C"/>
                </a:solidFill>
                <a:latin typeface="Calibri" pitchFamily="34" charset="0"/>
                <a:ea typeface="Calibri" pitchFamily="34" charset="-122"/>
                <a:cs typeface="Calibri" pitchFamily="34" charset="-120"/>
              </a:rPr>
              <a:t>Git &amp; GitHub</a:t>
            </a:r>
            <a:endParaRPr lang="en-US" sz="1300" dirty="0"/>
          </a:p>
        </p:txBody>
      </p:sp>
      <p:sp>
        <p:nvSpPr>
          <p:cNvPr id="20" name="Shape 18"/>
          <p:cNvSpPr/>
          <p:nvPr/>
        </p:nvSpPr>
        <p:spPr>
          <a:xfrm>
            <a:off x="4297680" y="3154680"/>
            <a:ext cx="3566160" cy="1554480"/>
          </a:xfrm>
          <a:prstGeom prst="roundRect">
            <a:avLst>
              <a:gd name="adj" fmla="val 3529"/>
            </a:avLst>
          </a:prstGeom>
          <a:solidFill>
            <a:srgbClr val="F7F9FC"/>
          </a:solidFill>
          <a:ln w="12700">
            <a:solidFill>
              <a:srgbClr val="E3E7EF"/>
            </a:solidFill>
            <a:prstDash val="solid"/>
          </a:ln>
        </p:spPr>
      </p:sp>
      <p:sp>
        <p:nvSpPr>
          <p:cNvPr id="21" name="Shape 19"/>
          <p:cNvSpPr/>
          <p:nvPr/>
        </p:nvSpPr>
        <p:spPr>
          <a:xfrm>
            <a:off x="4297680" y="3154680"/>
            <a:ext cx="54864" cy="1554480"/>
          </a:xfrm>
          <a:prstGeom prst="rect">
            <a:avLst/>
          </a:prstGeom>
          <a:solidFill>
            <a:srgbClr val="2F5FE0"/>
          </a:solidFill>
          <a:ln/>
        </p:spPr>
      </p:sp>
      <p:sp>
        <p:nvSpPr>
          <p:cNvPr id="22" name="Text 20"/>
          <p:cNvSpPr/>
          <p:nvPr/>
        </p:nvSpPr>
        <p:spPr>
          <a:xfrm>
            <a:off x="4572000" y="3319272"/>
            <a:ext cx="3063240" cy="365760"/>
          </a:xfrm>
          <a:prstGeom prst="rect">
            <a:avLst/>
          </a:prstGeom>
          <a:noFill/>
          <a:ln/>
        </p:spPr>
        <p:txBody>
          <a:bodyPr wrap="square" rtlCol="0" anchor="ctr"/>
          <a:lstStyle/>
          <a:p>
            <a:pPr indent="0" marL="0">
              <a:buNone/>
            </a:pPr>
            <a:r>
              <a:rPr lang="en-US" sz="1300" b="1" dirty="0">
                <a:solidFill>
                  <a:srgbClr val="2F5FE0"/>
                </a:solidFill>
                <a:latin typeface="Calibri" pitchFamily="34" charset="0"/>
                <a:ea typeface="Calibri" pitchFamily="34" charset="-122"/>
                <a:cs typeface="Calibri" pitchFamily="34" charset="-120"/>
              </a:rPr>
              <a:t>Standard Library</a:t>
            </a:r>
            <a:endParaRPr lang="en-US" sz="1300" dirty="0"/>
          </a:p>
        </p:txBody>
      </p:sp>
      <p:sp>
        <p:nvSpPr>
          <p:cNvPr id="23" name="Text 21"/>
          <p:cNvSpPr/>
          <p:nvPr/>
        </p:nvSpPr>
        <p:spPr>
          <a:xfrm>
            <a:off x="4572000" y="3703320"/>
            <a:ext cx="3063240" cy="914400"/>
          </a:xfrm>
          <a:prstGeom prst="rect">
            <a:avLst/>
          </a:prstGeom>
          <a:noFill/>
          <a:ln/>
        </p:spPr>
        <p:txBody>
          <a:bodyPr wrap="square" rtlCol="0" anchor="t"/>
          <a:lstStyle/>
          <a:p>
            <a:pPr indent="0" marL="0">
              <a:lnSpc>
                <a:spcPts val="1600"/>
              </a:lnSpc>
              <a:buNone/>
            </a:pPr>
            <a:r>
              <a:rPr lang="en-US" sz="1300" dirty="0">
                <a:solidFill>
                  <a:srgbClr val="48505C"/>
                </a:solidFill>
                <a:latin typeface="Calibri" pitchFamily="34" charset="0"/>
                <a:ea typeface="Calibri" pitchFamily="34" charset="-122"/>
                <a:cs typeface="Calibri" pitchFamily="34" charset="-120"/>
              </a:rPr>
              <a:t>iostream, vector, string, iomanip, ctime</a:t>
            </a:r>
            <a:endParaRPr lang="en-US" sz="1300" dirty="0"/>
          </a:p>
        </p:txBody>
      </p:sp>
      <p:sp>
        <p:nvSpPr>
          <p:cNvPr id="24" name="Shape 22"/>
          <p:cNvSpPr/>
          <p:nvPr/>
        </p:nvSpPr>
        <p:spPr>
          <a:xfrm>
            <a:off x="8092440" y="3154680"/>
            <a:ext cx="3566160" cy="1554480"/>
          </a:xfrm>
          <a:prstGeom prst="roundRect">
            <a:avLst>
              <a:gd name="adj" fmla="val 3529"/>
            </a:avLst>
          </a:prstGeom>
          <a:solidFill>
            <a:srgbClr val="F7F9FC"/>
          </a:solidFill>
          <a:ln w="12700">
            <a:solidFill>
              <a:srgbClr val="E3E7EF"/>
            </a:solidFill>
            <a:prstDash val="solid"/>
          </a:ln>
        </p:spPr>
      </p:sp>
      <p:sp>
        <p:nvSpPr>
          <p:cNvPr id="25" name="Shape 23"/>
          <p:cNvSpPr/>
          <p:nvPr/>
        </p:nvSpPr>
        <p:spPr>
          <a:xfrm>
            <a:off x="8092440" y="3154680"/>
            <a:ext cx="54864" cy="1554480"/>
          </a:xfrm>
          <a:prstGeom prst="rect">
            <a:avLst/>
          </a:prstGeom>
          <a:solidFill>
            <a:srgbClr val="2F5FE0"/>
          </a:solidFill>
          <a:ln/>
        </p:spPr>
      </p:sp>
      <p:sp>
        <p:nvSpPr>
          <p:cNvPr id="26" name="Text 24"/>
          <p:cNvSpPr/>
          <p:nvPr/>
        </p:nvSpPr>
        <p:spPr>
          <a:xfrm>
            <a:off x="8366760" y="3319272"/>
            <a:ext cx="3063240" cy="365760"/>
          </a:xfrm>
          <a:prstGeom prst="rect">
            <a:avLst/>
          </a:prstGeom>
          <a:noFill/>
          <a:ln/>
        </p:spPr>
        <p:txBody>
          <a:bodyPr wrap="square" rtlCol="0" anchor="ctr"/>
          <a:lstStyle/>
          <a:p>
            <a:pPr indent="0" marL="0">
              <a:buNone/>
            </a:pPr>
            <a:r>
              <a:rPr lang="en-US" sz="1300" b="1" dirty="0">
                <a:solidFill>
                  <a:srgbClr val="2F5FE0"/>
                </a:solidFill>
                <a:latin typeface="Calibri" pitchFamily="34" charset="0"/>
                <a:ea typeface="Calibri" pitchFamily="34" charset="-122"/>
                <a:cs typeface="Calibri" pitchFamily="34" charset="-120"/>
              </a:rPr>
              <a:t>Documentation</a:t>
            </a:r>
            <a:endParaRPr lang="en-US" sz="1300" dirty="0"/>
          </a:p>
        </p:txBody>
      </p:sp>
      <p:sp>
        <p:nvSpPr>
          <p:cNvPr id="27" name="Text 25"/>
          <p:cNvSpPr/>
          <p:nvPr/>
        </p:nvSpPr>
        <p:spPr>
          <a:xfrm>
            <a:off x="8366760" y="3703320"/>
            <a:ext cx="3063240" cy="914400"/>
          </a:xfrm>
          <a:prstGeom prst="rect">
            <a:avLst/>
          </a:prstGeom>
          <a:noFill/>
          <a:ln/>
        </p:spPr>
        <p:txBody>
          <a:bodyPr wrap="square" rtlCol="0" anchor="t"/>
          <a:lstStyle/>
          <a:p>
            <a:pPr indent="0" marL="0">
              <a:lnSpc>
                <a:spcPts val="1600"/>
              </a:lnSpc>
              <a:buNone/>
            </a:pPr>
            <a:r>
              <a:rPr lang="en-US" sz="1300" dirty="0">
                <a:solidFill>
                  <a:srgbClr val="48505C"/>
                </a:solidFill>
                <a:latin typeface="Calibri" pitchFamily="34" charset="0"/>
                <a:ea typeface="Calibri" pitchFamily="34" charset="-122"/>
                <a:cs typeface="Calibri" pitchFamily="34" charset="-120"/>
              </a:rPr>
              <a:t>Markdown, Microsoft Word</a:t>
            </a:r>
            <a:endParaRPr lang="en-US" sz="1300" dirty="0"/>
          </a:p>
        </p:txBody>
      </p:sp>
      <p:sp>
        <p:nvSpPr>
          <p:cNvPr id="28" name="Text 26"/>
          <p:cNvSpPr/>
          <p:nvPr/>
        </p:nvSpPr>
        <p:spPr>
          <a:xfrm>
            <a:off x="502920" y="6537960"/>
            <a:ext cx="7315200" cy="274320"/>
          </a:xfrm>
          <a:prstGeom prst="rect">
            <a:avLst/>
          </a:prstGeom>
          <a:noFill/>
          <a:ln/>
        </p:spPr>
        <p:txBody>
          <a:bodyPr wrap="square" rtlCol="0" anchor="ctr"/>
          <a:lstStyle/>
          <a:p>
            <a:pPr indent="0" marL="0">
              <a:buNone/>
            </a:pPr>
            <a:r>
              <a:rPr lang="en-US" sz="900" dirty="0">
                <a:solidFill>
                  <a:srgbClr val="9AA3AF"/>
                </a:solidFill>
                <a:latin typeface="Calibri" pitchFamily="34" charset="0"/>
                <a:ea typeface="Calibri" pitchFamily="34" charset="-122"/>
                <a:cs typeface="Calibri" pitchFamily="34" charset="-120"/>
              </a:rPr>
              <a:t>Aditya Agrawal  |  CodeAlpha C++ Programming Internship</a:t>
            </a:r>
            <a:endParaRPr lang="en-US" sz="900" dirty="0"/>
          </a:p>
        </p:txBody>
      </p:sp>
      <p:sp>
        <p:nvSpPr>
          <p:cNvPr id="29" name="Text 27"/>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9A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640080"/>
          </a:xfrm>
          <a:prstGeom prst="rect">
            <a:avLst/>
          </a:prstGeom>
          <a:noFill/>
          <a:ln/>
        </p:spPr>
        <p:txBody>
          <a:bodyPr wrap="square" rtlCol="0" anchor="ctr"/>
          <a:lstStyle/>
          <a:p>
            <a:pPr indent="0" marL="0">
              <a:buNone/>
            </a:pPr>
            <a:r>
              <a:rPr lang="en-US" sz="2600" b="1" dirty="0">
                <a:solidFill>
                  <a:srgbClr val="0B1B3A"/>
                </a:solidFill>
                <a:latin typeface="Cambria" pitchFamily="34" charset="0"/>
                <a:ea typeface="Cambria" pitchFamily="34" charset="-122"/>
                <a:cs typeface="Cambria" pitchFamily="34" charset="-120"/>
              </a:rPr>
              <a:t>System Architecture</a:t>
            </a:r>
            <a:endParaRPr lang="en-US" sz="2600" dirty="0"/>
          </a:p>
        </p:txBody>
      </p:sp>
      <p:sp>
        <p:nvSpPr>
          <p:cNvPr id="3" name="Shape 1"/>
          <p:cNvSpPr/>
          <p:nvPr/>
        </p:nvSpPr>
        <p:spPr>
          <a:xfrm>
            <a:off x="502920" y="960120"/>
            <a:ext cx="11155680" cy="41148"/>
          </a:xfrm>
          <a:prstGeom prst="rect">
            <a:avLst/>
          </a:prstGeom>
          <a:solidFill>
            <a:srgbClr val="2F5FE0"/>
          </a:solidFill>
          <a:ln/>
        </p:spPr>
      </p:sp>
      <p:sp>
        <p:nvSpPr>
          <p:cNvPr id="4" name="Shape 2"/>
          <p:cNvSpPr/>
          <p:nvPr/>
        </p:nvSpPr>
        <p:spPr>
          <a:xfrm>
            <a:off x="502920" y="1371600"/>
            <a:ext cx="3611880" cy="3931920"/>
          </a:xfrm>
          <a:prstGeom prst="roundRect">
            <a:avLst>
              <a:gd name="adj" fmla="val 1519"/>
            </a:avLst>
          </a:prstGeom>
          <a:solidFill>
            <a:srgbClr val="F7F9FC"/>
          </a:solidFill>
          <a:ln w="12700">
            <a:solidFill>
              <a:srgbClr val="E3E7EF"/>
            </a:solidFill>
            <a:prstDash val="solid"/>
          </a:ln>
        </p:spPr>
      </p:sp>
      <p:sp>
        <p:nvSpPr>
          <p:cNvPr id="5" name="Text 3"/>
          <p:cNvSpPr/>
          <p:nvPr/>
        </p:nvSpPr>
        <p:spPr>
          <a:xfrm>
            <a:off x="777240" y="1645920"/>
            <a:ext cx="3063240" cy="548640"/>
          </a:xfrm>
          <a:prstGeom prst="rect">
            <a:avLst/>
          </a:prstGeom>
          <a:noFill/>
          <a:ln/>
        </p:spPr>
        <p:txBody>
          <a:bodyPr wrap="square" rtlCol="0" anchor="ctr"/>
          <a:lstStyle/>
          <a:p>
            <a:pPr indent="0" marL="0">
              <a:buNone/>
            </a:pPr>
            <a:r>
              <a:rPr lang="en-US" sz="1600" b="1" dirty="0">
                <a:solidFill>
                  <a:srgbClr val="0B1B3A"/>
                </a:solidFill>
                <a:latin typeface="Cambria" pitchFamily="34" charset="0"/>
                <a:ea typeface="Cambria" pitchFamily="34" charset="-122"/>
                <a:cs typeface="Cambria" pitchFamily="34" charset="-120"/>
              </a:rPr>
              <a:t>CGPA Calculator</a:t>
            </a:r>
            <a:endParaRPr lang="en-US" sz="1600" dirty="0"/>
          </a:p>
        </p:txBody>
      </p:sp>
      <p:sp>
        <p:nvSpPr>
          <p:cNvPr id="6" name="Text 4"/>
          <p:cNvSpPr/>
          <p:nvPr/>
        </p:nvSpPr>
        <p:spPr>
          <a:xfrm>
            <a:off x="777240" y="2286000"/>
            <a:ext cx="3063240" cy="2743200"/>
          </a:xfrm>
          <a:prstGeom prst="rect">
            <a:avLst/>
          </a:prstGeom>
          <a:noFill/>
          <a:ln/>
        </p:spPr>
        <p:txBody>
          <a:bodyPr wrap="square" rtlCol="0" anchor="t"/>
          <a:lstStyle/>
          <a:p>
            <a:pPr indent="0" marL="0">
              <a:lnSpc>
                <a:spcPts val="1800"/>
              </a:lnSpc>
              <a:buNone/>
            </a:pPr>
            <a:r>
              <a:rPr lang="en-US" sz="1250" dirty="0">
                <a:solidFill>
                  <a:srgbClr val="48505C"/>
                </a:solidFill>
                <a:latin typeface="Calibri" pitchFamily="34" charset="0"/>
                <a:ea typeface="Calibri" pitchFamily="34" charset="-122"/>
                <a:cs typeface="Calibri" pitchFamily="34" charset="-120"/>
              </a:rPr>
              <a:t>Structs, vectors, functions, input validation. Course struct + reusable validation functions compute quality points and CGPA.</a:t>
            </a:r>
            <a:endParaRPr lang="en-US" sz="1250" dirty="0"/>
          </a:p>
        </p:txBody>
      </p:sp>
      <p:sp>
        <p:nvSpPr>
          <p:cNvPr id="7" name="Shape 5"/>
          <p:cNvSpPr/>
          <p:nvPr/>
        </p:nvSpPr>
        <p:spPr>
          <a:xfrm>
            <a:off x="4343400" y="1371600"/>
            <a:ext cx="3611880" cy="3931920"/>
          </a:xfrm>
          <a:prstGeom prst="roundRect">
            <a:avLst>
              <a:gd name="adj" fmla="val 1519"/>
            </a:avLst>
          </a:prstGeom>
          <a:solidFill>
            <a:srgbClr val="1E2C4E"/>
          </a:solidFill>
          <a:ln w="12700">
            <a:solidFill>
              <a:srgbClr val="E3E7EF"/>
            </a:solidFill>
            <a:prstDash val="solid"/>
          </a:ln>
        </p:spPr>
      </p:sp>
      <p:sp>
        <p:nvSpPr>
          <p:cNvPr id="8" name="Text 6"/>
          <p:cNvSpPr/>
          <p:nvPr/>
        </p:nvSpPr>
        <p:spPr>
          <a:xfrm>
            <a:off x="4617720" y="1645920"/>
            <a:ext cx="3063240" cy="54864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Banking System</a:t>
            </a:r>
            <a:endParaRPr lang="en-US" sz="1600" dirty="0"/>
          </a:p>
        </p:txBody>
      </p:sp>
      <p:sp>
        <p:nvSpPr>
          <p:cNvPr id="9" name="Text 7"/>
          <p:cNvSpPr/>
          <p:nvPr/>
        </p:nvSpPr>
        <p:spPr>
          <a:xfrm>
            <a:off x="4617720" y="2286000"/>
            <a:ext cx="3063240" cy="2743200"/>
          </a:xfrm>
          <a:prstGeom prst="rect">
            <a:avLst/>
          </a:prstGeom>
          <a:noFill/>
          <a:ln/>
        </p:spPr>
        <p:txBody>
          <a:bodyPr wrap="square" rtlCol="0" anchor="t"/>
          <a:lstStyle/>
          <a:p>
            <a:pPr indent="0" marL="0">
              <a:lnSpc>
                <a:spcPts val="1800"/>
              </a:lnSpc>
              <a:buNone/>
            </a:pPr>
            <a:r>
              <a:rPr lang="en-US" sz="1250" dirty="0">
                <a:solidFill>
                  <a:srgbClr val="C7D3EE"/>
                </a:solidFill>
                <a:latin typeface="Calibri" pitchFamily="34" charset="0"/>
                <a:ea typeface="Calibri" pitchFamily="34" charset="-122"/>
                <a:cs typeface="Calibri" pitchFamily="34" charset="-120"/>
              </a:rPr>
              <a:t>OOP: Customer, Account, Transaction, Bank classes. Encapsulation &amp; composition; overdraft protection built in.</a:t>
            </a:r>
            <a:endParaRPr lang="en-US" sz="1250" dirty="0"/>
          </a:p>
        </p:txBody>
      </p:sp>
      <p:sp>
        <p:nvSpPr>
          <p:cNvPr id="10" name="Shape 8"/>
          <p:cNvSpPr/>
          <p:nvPr/>
        </p:nvSpPr>
        <p:spPr>
          <a:xfrm>
            <a:off x="8183880" y="1371600"/>
            <a:ext cx="3611880" cy="3931920"/>
          </a:xfrm>
          <a:prstGeom prst="roundRect">
            <a:avLst>
              <a:gd name="adj" fmla="val 1519"/>
            </a:avLst>
          </a:prstGeom>
          <a:solidFill>
            <a:srgbClr val="F7F9FC"/>
          </a:solidFill>
          <a:ln w="12700">
            <a:solidFill>
              <a:srgbClr val="E3E7EF"/>
            </a:solidFill>
            <a:prstDash val="solid"/>
          </a:ln>
        </p:spPr>
      </p:sp>
      <p:sp>
        <p:nvSpPr>
          <p:cNvPr id="11" name="Text 9"/>
          <p:cNvSpPr/>
          <p:nvPr/>
        </p:nvSpPr>
        <p:spPr>
          <a:xfrm>
            <a:off x="8458200" y="1645920"/>
            <a:ext cx="3063240" cy="548640"/>
          </a:xfrm>
          <a:prstGeom prst="rect">
            <a:avLst/>
          </a:prstGeom>
          <a:noFill/>
          <a:ln/>
        </p:spPr>
        <p:txBody>
          <a:bodyPr wrap="square" rtlCol="0" anchor="ctr"/>
          <a:lstStyle/>
          <a:p>
            <a:pPr indent="0" marL="0">
              <a:buNone/>
            </a:pPr>
            <a:r>
              <a:rPr lang="en-US" sz="1600" b="1" dirty="0">
                <a:solidFill>
                  <a:srgbClr val="0B1B3A"/>
                </a:solidFill>
                <a:latin typeface="Cambria" pitchFamily="34" charset="0"/>
                <a:ea typeface="Cambria" pitchFamily="34" charset="-122"/>
                <a:cs typeface="Cambria" pitchFamily="34" charset="-120"/>
              </a:rPr>
              <a:t>Sudoku Solver</a:t>
            </a:r>
            <a:endParaRPr lang="en-US" sz="1600" dirty="0"/>
          </a:p>
        </p:txBody>
      </p:sp>
      <p:sp>
        <p:nvSpPr>
          <p:cNvPr id="12" name="Text 10"/>
          <p:cNvSpPr/>
          <p:nvPr/>
        </p:nvSpPr>
        <p:spPr>
          <a:xfrm>
            <a:off x="8458200" y="2286000"/>
            <a:ext cx="3063240" cy="2743200"/>
          </a:xfrm>
          <a:prstGeom prst="rect">
            <a:avLst/>
          </a:prstGeom>
          <a:noFill/>
          <a:ln/>
        </p:spPr>
        <p:txBody>
          <a:bodyPr wrap="square" rtlCol="0" anchor="t"/>
          <a:lstStyle/>
          <a:p>
            <a:pPr indent="0" marL="0">
              <a:lnSpc>
                <a:spcPts val="1800"/>
              </a:lnSpc>
              <a:buNone/>
            </a:pPr>
            <a:r>
              <a:rPr lang="en-US" sz="1250" dirty="0">
                <a:solidFill>
                  <a:srgbClr val="48505C"/>
                </a:solidFill>
                <a:latin typeface="Calibri" pitchFamily="34" charset="0"/>
                <a:ea typeface="Calibri" pitchFamily="34" charset="-122"/>
                <a:cs typeface="Calibri" pitchFamily="34" charset="-120"/>
              </a:rPr>
              <a:t>2D array + recursive backtracking. Row/column/3×3-box validation before every placement; auto-detects invalid or unsolvable puzzles.</a:t>
            </a:r>
            <a:endParaRPr lang="en-US" sz="1250" dirty="0"/>
          </a:p>
        </p:txBody>
      </p:sp>
      <p:sp>
        <p:nvSpPr>
          <p:cNvPr id="13" name="Text 11"/>
          <p:cNvSpPr/>
          <p:nvPr/>
        </p:nvSpPr>
        <p:spPr>
          <a:xfrm>
            <a:off x="502920" y="6537960"/>
            <a:ext cx="7315200" cy="274320"/>
          </a:xfrm>
          <a:prstGeom prst="rect">
            <a:avLst/>
          </a:prstGeom>
          <a:noFill/>
          <a:ln/>
        </p:spPr>
        <p:txBody>
          <a:bodyPr wrap="square" rtlCol="0" anchor="ctr"/>
          <a:lstStyle/>
          <a:p>
            <a:pPr indent="0" marL="0">
              <a:buNone/>
            </a:pPr>
            <a:r>
              <a:rPr lang="en-US" sz="900" dirty="0">
                <a:solidFill>
                  <a:srgbClr val="9AA3AF"/>
                </a:solidFill>
                <a:latin typeface="Calibri" pitchFamily="34" charset="0"/>
                <a:ea typeface="Calibri" pitchFamily="34" charset="-122"/>
                <a:cs typeface="Calibri" pitchFamily="34" charset="-120"/>
              </a:rPr>
              <a:t>Aditya Agrawal  |  CodeAlpha C++ Programming Internship</a:t>
            </a:r>
            <a:endParaRPr lang="en-US" sz="900" dirty="0"/>
          </a:p>
        </p:txBody>
      </p:sp>
      <p:sp>
        <p:nvSpPr>
          <p:cNvPr id="14" name="Text 12"/>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9A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640080"/>
          </a:xfrm>
          <a:prstGeom prst="rect">
            <a:avLst/>
          </a:prstGeom>
          <a:noFill/>
          <a:ln/>
        </p:spPr>
        <p:txBody>
          <a:bodyPr wrap="square" rtlCol="0" anchor="ctr"/>
          <a:lstStyle/>
          <a:p>
            <a:pPr indent="0" marL="0">
              <a:buNone/>
            </a:pPr>
            <a:r>
              <a:rPr lang="en-US" sz="2600" b="1" dirty="0">
                <a:solidFill>
                  <a:srgbClr val="0B1B3A"/>
                </a:solidFill>
                <a:latin typeface="Cambria" pitchFamily="34" charset="0"/>
                <a:ea typeface="Cambria" pitchFamily="34" charset="-122"/>
                <a:cs typeface="Cambria" pitchFamily="34" charset="-120"/>
              </a:rPr>
              <a:t>Methodology &amp; Challenges Overcome</a:t>
            </a:r>
            <a:endParaRPr lang="en-US" sz="2600" dirty="0"/>
          </a:p>
        </p:txBody>
      </p:sp>
      <p:sp>
        <p:nvSpPr>
          <p:cNvPr id="3" name="Shape 1"/>
          <p:cNvSpPr/>
          <p:nvPr/>
        </p:nvSpPr>
        <p:spPr>
          <a:xfrm>
            <a:off x="502920" y="960120"/>
            <a:ext cx="11155680" cy="41148"/>
          </a:xfrm>
          <a:prstGeom prst="rect">
            <a:avLst/>
          </a:prstGeom>
          <a:solidFill>
            <a:srgbClr val="2F5FE0"/>
          </a:solidFill>
          <a:ln/>
        </p:spPr>
      </p:sp>
      <p:sp>
        <p:nvSpPr>
          <p:cNvPr id="4" name="Text 2"/>
          <p:cNvSpPr/>
          <p:nvPr/>
        </p:nvSpPr>
        <p:spPr>
          <a:xfrm>
            <a:off x="502920" y="1234440"/>
            <a:ext cx="11155680" cy="548640"/>
          </a:xfrm>
          <a:prstGeom prst="rect">
            <a:avLst/>
          </a:prstGeom>
          <a:noFill/>
          <a:ln/>
        </p:spPr>
        <p:txBody>
          <a:bodyPr wrap="square" rtlCol="0" anchor="t"/>
          <a:lstStyle/>
          <a:p>
            <a:pPr indent="0" marL="0">
              <a:lnSpc>
                <a:spcPts val="1700"/>
              </a:lnSpc>
              <a:buNone/>
            </a:pPr>
            <a:r>
              <a:rPr lang="en-US" sz="1300" dirty="0">
                <a:solidFill>
                  <a:srgbClr val="48505C"/>
                </a:solidFill>
                <a:latin typeface="Calibri" pitchFamily="34" charset="0"/>
                <a:ea typeface="Calibri" pitchFamily="34" charset="-122"/>
                <a:cs typeface="Calibri" pitchFamily="34" charset="-120"/>
              </a:rPr>
              <a:t>Each project followed the same process: design data structures first, implement with input validation throughout, compile with warnings enabled, then verify with real test runs.</a:t>
            </a:r>
            <a:endParaRPr lang="en-US" sz="1300" dirty="0"/>
          </a:p>
        </p:txBody>
      </p:sp>
      <p:sp>
        <p:nvSpPr>
          <p:cNvPr id="5" name="Shape 3"/>
          <p:cNvSpPr/>
          <p:nvPr/>
        </p:nvSpPr>
        <p:spPr>
          <a:xfrm>
            <a:off x="502920" y="1965960"/>
            <a:ext cx="11155680" cy="1188720"/>
          </a:xfrm>
          <a:prstGeom prst="roundRect">
            <a:avLst>
              <a:gd name="adj" fmla="val 4615"/>
            </a:avLst>
          </a:prstGeom>
          <a:solidFill>
            <a:srgbClr val="F7F9FC"/>
          </a:solidFill>
          <a:ln w="12700">
            <a:solidFill>
              <a:srgbClr val="E3E7EF"/>
            </a:solidFill>
            <a:prstDash val="solid"/>
          </a:ln>
        </p:spPr>
      </p:sp>
      <p:sp>
        <p:nvSpPr>
          <p:cNvPr id="6" name="Shape 4"/>
          <p:cNvSpPr/>
          <p:nvPr/>
        </p:nvSpPr>
        <p:spPr>
          <a:xfrm>
            <a:off x="502920" y="1965960"/>
            <a:ext cx="54864" cy="1188720"/>
          </a:xfrm>
          <a:prstGeom prst="rect">
            <a:avLst/>
          </a:prstGeom>
          <a:solidFill>
            <a:srgbClr val="2F5FE0"/>
          </a:solidFill>
          <a:ln/>
        </p:spPr>
      </p:sp>
      <p:sp>
        <p:nvSpPr>
          <p:cNvPr id="7" name="Text 5"/>
          <p:cNvSpPr/>
          <p:nvPr/>
        </p:nvSpPr>
        <p:spPr>
          <a:xfrm>
            <a:off x="822960" y="2103120"/>
            <a:ext cx="2743200" cy="274320"/>
          </a:xfrm>
          <a:prstGeom prst="rect">
            <a:avLst/>
          </a:prstGeom>
          <a:noFill/>
          <a:ln/>
        </p:spPr>
        <p:txBody>
          <a:bodyPr wrap="square" rtlCol="0" anchor="ctr"/>
          <a:lstStyle/>
          <a:p>
            <a:pPr indent="0" marL="0">
              <a:buNone/>
            </a:pPr>
            <a:r>
              <a:rPr lang="en-US" sz="1000" b="1" dirty="0">
                <a:solidFill>
                  <a:srgbClr val="2F5FE0"/>
                </a:solidFill>
                <a:latin typeface="Calibri" pitchFamily="34" charset="0"/>
                <a:ea typeface="Calibri" pitchFamily="34" charset="-122"/>
                <a:cs typeface="Calibri" pitchFamily="34" charset="-120"/>
              </a:rPr>
              <a:t>CHALLENGE</a:t>
            </a:r>
            <a:endParaRPr lang="en-US" sz="1000" dirty="0"/>
          </a:p>
        </p:txBody>
      </p:sp>
      <p:sp>
        <p:nvSpPr>
          <p:cNvPr id="8" name="Text 6"/>
          <p:cNvSpPr/>
          <p:nvPr/>
        </p:nvSpPr>
        <p:spPr>
          <a:xfrm>
            <a:off x="822960" y="2350008"/>
            <a:ext cx="3291840" cy="73152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Duplicate transaction logging</a:t>
            </a:r>
            <a:endParaRPr lang="en-US" sz="1300" dirty="0"/>
          </a:p>
        </p:txBody>
      </p:sp>
      <p:sp>
        <p:nvSpPr>
          <p:cNvPr id="9" name="Text 7"/>
          <p:cNvSpPr/>
          <p:nvPr/>
        </p:nvSpPr>
        <p:spPr>
          <a:xfrm>
            <a:off x="4389120" y="2103120"/>
            <a:ext cx="2743200" cy="274320"/>
          </a:xfrm>
          <a:prstGeom prst="rect">
            <a:avLst/>
          </a:prstGeom>
          <a:noFill/>
          <a:ln/>
        </p:spPr>
        <p:txBody>
          <a:bodyPr wrap="square" rtlCol="0" anchor="ctr"/>
          <a:lstStyle/>
          <a:p>
            <a:pPr indent="0" marL="0">
              <a:buNone/>
            </a:pPr>
            <a:r>
              <a:rPr lang="en-US" sz="1000" b="1" dirty="0">
                <a:solidFill>
                  <a:srgbClr val="2F5FE0"/>
                </a:solidFill>
                <a:latin typeface="Calibri" pitchFamily="34" charset="0"/>
                <a:ea typeface="Calibri" pitchFamily="34" charset="-122"/>
                <a:cs typeface="Calibri" pitchFamily="34" charset="-120"/>
              </a:rPr>
              <a:t>RESOLUTION</a:t>
            </a:r>
            <a:endParaRPr lang="en-US" sz="1000" dirty="0"/>
          </a:p>
        </p:txBody>
      </p:sp>
      <p:sp>
        <p:nvSpPr>
          <p:cNvPr id="10" name="Text 8"/>
          <p:cNvSpPr/>
          <p:nvPr/>
        </p:nvSpPr>
        <p:spPr>
          <a:xfrm>
            <a:off x="4389120" y="2350008"/>
            <a:ext cx="6949440" cy="731520"/>
          </a:xfrm>
          <a:prstGeom prst="rect">
            <a:avLst/>
          </a:prstGeom>
          <a:noFill/>
          <a:ln/>
        </p:spPr>
        <p:txBody>
          <a:bodyPr wrap="square" rtlCol="0" anchor="t"/>
          <a:lstStyle/>
          <a:p>
            <a:pPr indent="0" marL="0">
              <a:lnSpc>
                <a:spcPts val="1600"/>
              </a:lnSpc>
              <a:buNone/>
            </a:pPr>
            <a:r>
              <a:rPr lang="en-US" sz="1300" dirty="0">
                <a:solidFill>
                  <a:srgbClr val="48505C"/>
                </a:solidFill>
                <a:latin typeface="Calibri" pitchFamily="34" charset="0"/>
                <a:ea typeface="Calibri" pitchFamily="34" charset="-122"/>
                <a:cs typeface="Calibri" pitchFamily="34" charset="-120"/>
              </a:rPr>
              <a:t>Banking System — fixed with dedicated transfer-only logging methods</a:t>
            </a:r>
            <a:endParaRPr lang="en-US" sz="1300" dirty="0"/>
          </a:p>
        </p:txBody>
      </p:sp>
      <p:sp>
        <p:nvSpPr>
          <p:cNvPr id="11" name="Shape 9"/>
          <p:cNvSpPr/>
          <p:nvPr/>
        </p:nvSpPr>
        <p:spPr>
          <a:xfrm>
            <a:off x="502920" y="3383280"/>
            <a:ext cx="11155680" cy="1188720"/>
          </a:xfrm>
          <a:prstGeom prst="roundRect">
            <a:avLst>
              <a:gd name="adj" fmla="val 4615"/>
            </a:avLst>
          </a:prstGeom>
          <a:solidFill>
            <a:srgbClr val="F7F9FC"/>
          </a:solidFill>
          <a:ln w="12700">
            <a:solidFill>
              <a:srgbClr val="E3E7EF"/>
            </a:solidFill>
            <a:prstDash val="solid"/>
          </a:ln>
        </p:spPr>
      </p:sp>
      <p:sp>
        <p:nvSpPr>
          <p:cNvPr id="12" name="Shape 10"/>
          <p:cNvSpPr/>
          <p:nvPr/>
        </p:nvSpPr>
        <p:spPr>
          <a:xfrm>
            <a:off x="502920" y="3383280"/>
            <a:ext cx="54864" cy="1188720"/>
          </a:xfrm>
          <a:prstGeom prst="rect">
            <a:avLst/>
          </a:prstGeom>
          <a:solidFill>
            <a:srgbClr val="2F5FE0"/>
          </a:solidFill>
          <a:ln/>
        </p:spPr>
      </p:sp>
      <p:sp>
        <p:nvSpPr>
          <p:cNvPr id="13" name="Text 11"/>
          <p:cNvSpPr/>
          <p:nvPr/>
        </p:nvSpPr>
        <p:spPr>
          <a:xfrm>
            <a:off x="822960" y="3520440"/>
            <a:ext cx="2743200" cy="274320"/>
          </a:xfrm>
          <a:prstGeom prst="rect">
            <a:avLst/>
          </a:prstGeom>
          <a:noFill/>
          <a:ln/>
        </p:spPr>
        <p:txBody>
          <a:bodyPr wrap="square" rtlCol="0" anchor="ctr"/>
          <a:lstStyle/>
          <a:p>
            <a:pPr indent="0" marL="0">
              <a:buNone/>
            </a:pPr>
            <a:r>
              <a:rPr lang="en-US" sz="1000" b="1" dirty="0">
                <a:solidFill>
                  <a:srgbClr val="2F5FE0"/>
                </a:solidFill>
                <a:latin typeface="Calibri" pitchFamily="34" charset="0"/>
                <a:ea typeface="Calibri" pitchFamily="34" charset="-122"/>
                <a:cs typeface="Calibri" pitchFamily="34" charset="-120"/>
              </a:rPr>
              <a:t>CHALLENGE</a:t>
            </a:r>
            <a:endParaRPr lang="en-US" sz="1000" dirty="0"/>
          </a:p>
        </p:txBody>
      </p:sp>
      <p:sp>
        <p:nvSpPr>
          <p:cNvPr id="14" name="Text 12"/>
          <p:cNvSpPr/>
          <p:nvPr/>
        </p:nvSpPr>
        <p:spPr>
          <a:xfrm>
            <a:off x="822960" y="3767328"/>
            <a:ext cx="3291840" cy="73152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Crashes on bad input</a:t>
            </a:r>
            <a:endParaRPr lang="en-US" sz="1300" dirty="0"/>
          </a:p>
        </p:txBody>
      </p:sp>
      <p:sp>
        <p:nvSpPr>
          <p:cNvPr id="15" name="Text 13"/>
          <p:cNvSpPr/>
          <p:nvPr/>
        </p:nvSpPr>
        <p:spPr>
          <a:xfrm>
            <a:off x="4389120" y="3520440"/>
            <a:ext cx="2743200" cy="274320"/>
          </a:xfrm>
          <a:prstGeom prst="rect">
            <a:avLst/>
          </a:prstGeom>
          <a:noFill/>
          <a:ln/>
        </p:spPr>
        <p:txBody>
          <a:bodyPr wrap="square" rtlCol="0" anchor="ctr"/>
          <a:lstStyle/>
          <a:p>
            <a:pPr indent="0" marL="0">
              <a:buNone/>
            </a:pPr>
            <a:r>
              <a:rPr lang="en-US" sz="1000" b="1" dirty="0">
                <a:solidFill>
                  <a:srgbClr val="2F5FE0"/>
                </a:solidFill>
                <a:latin typeface="Calibri" pitchFamily="34" charset="0"/>
                <a:ea typeface="Calibri" pitchFamily="34" charset="-122"/>
                <a:cs typeface="Calibri" pitchFamily="34" charset="-120"/>
              </a:rPr>
              <a:t>RESOLUTION</a:t>
            </a:r>
            <a:endParaRPr lang="en-US" sz="1000" dirty="0"/>
          </a:p>
        </p:txBody>
      </p:sp>
      <p:sp>
        <p:nvSpPr>
          <p:cNvPr id="16" name="Text 14"/>
          <p:cNvSpPr/>
          <p:nvPr/>
        </p:nvSpPr>
        <p:spPr>
          <a:xfrm>
            <a:off x="4389120" y="3767328"/>
            <a:ext cx="6949440" cy="731520"/>
          </a:xfrm>
          <a:prstGeom prst="rect">
            <a:avLst/>
          </a:prstGeom>
          <a:noFill/>
          <a:ln/>
        </p:spPr>
        <p:txBody>
          <a:bodyPr wrap="square" rtlCol="0" anchor="t"/>
          <a:lstStyle/>
          <a:p>
            <a:pPr indent="0" marL="0">
              <a:lnSpc>
                <a:spcPts val="1600"/>
              </a:lnSpc>
              <a:buNone/>
            </a:pPr>
            <a:r>
              <a:rPr lang="en-US" sz="1300" dirty="0">
                <a:solidFill>
                  <a:srgbClr val="48505C"/>
                </a:solidFill>
                <a:latin typeface="Calibri" pitchFamily="34" charset="0"/>
                <a:ea typeface="Calibri" pitchFamily="34" charset="-122"/>
                <a:cs typeface="Calibri" pitchFamily="34" charset="-120"/>
              </a:rPr>
              <a:t>All 3 projects — reusable validation helpers that re-prompt instead of failing</a:t>
            </a:r>
            <a:endParaRPr lang="en-US" sz="1300" dirty="0"/>
          </a:p>
        </p:txBody>
      </p:sp>
      <p:sp>
        <p:nvSpPr>
          <p:cNvPr id="17" name="Shape 15"/>
          <p:cNvSpPr/>
          <p:nvPr/>
        </p:nvSpPr>
        <p:spPr>
          <a:xfrm>
            <a:off x="502920" y="4800600"/>
            <a:ext cx="11155680" cy="1188720"/>
          </a:xfrm>
          <a:prstGeom prst="roundRect">
            <a:avLst>
              <a:gd name="adj" fmla="val 4615"/>
            </a:avLst>
          </a:prstGeom>
          <a:solidFill>
            <a:srgbClr val="F7F9FC"/>
          </a:solidFill>
          <a:ln w="12700">
            <a:solidFill>
              <a:srgbClr val="E3E7EF"/>
            </a:solidFill>
            <a:prstDash val="solid"/>
          </a:ln>
        </p:spPr>
      </p:sp>
      <p:sp>
        <p:nvSpPr>
          <p:cNvPr id="18" name="Shape 16"/>
          <p:cNvSpPr/>
          <p:nvPr/>
        </p:nvSpPr>
        <p:spPr>
          <a:xfrm>
            <a:off x="502920" y="4800600"/>
            <a:ext cx="54864" cy="1188720"/>
          </a:xfrm>
          <a:prstGeom prst="rect">
            <a:avLst/>
          </a:prstGeom>
          <a:solidFill>
            <a:srgbClr val="2F5FE0"/>
          </a:solidFill>
          <a:ln/>
        </p:spPr>
      </p:sp>
      <p:sp>
        <p:nvSpPr>
          <p:cNvPr id="19" name="Text 17"/>
          <p:cNvSpPr/>
          <p:nvPr/>
        </p:nvSpPr>
        <p:spPr>
          <a:xfrm>
            <a:off x="822960" y="4937760"/>
            <a:ext cx="2743200" cy="274320"/>
          </a:xfrm>
          <a:prstGeom prst="rect">
            <a:avLst/>
          </a:prstGeom>
          <a:noFill/>
          <a:ln/>
        </p:spPr>
        <p:txBody>
          <a:bodyPr wrap="square" rtlCol="0" anchor="ctr"/>
          <a:lstStyle/>
          <a:p>
            <a:pPr indent="0" marL="0">
              <a:buNone/>
            </a:pPr>
            <a:r>
              <a:rPr lang="en-US" sz="1000" b="1" dirty="0">
                <a:solidFill>
                  <a:srgbClr val="2F5FE0"/>
                </a:solidFill>
                <a:latin typeface="Calibri" pitchFamily="34" charset="0"/>
                <a:ea typeface="Calibri" pitchFamily="34" charset="-122"/>
                <a:cs typeface="Calibri" pitchFamily="34" charset="-120"/>
              </a:rPr>
              <a:t>CHALLENGE</a:t>
            </a:r>
            <a:endParaRPr lang="en-US" sz="1000" dirty="0"/>
          </a:p>
        </p:txBody>
      </p:sp>
      <p:sp>
        <p:nvSpPr>
          <p:cNvPr id="20" name="Text 18"/>
          <p:cNvSpPr/>
          <p:nvPr/>
        </p:nvSpPr>
        <p:spPr>
          <a:xfrm>
            <a:off x="822960" y="5184648"/>
            <a:ext cx="3291840" cy="731520"/>
          </a:xfrm>
          <a:prstGeom prst="rect">
            <a:avLst/>
          </a:prstGeom>
          <a:noFill/>
          <a:ln/>
        </p:spPr>
        <p:txBody>
          <a:bodyPr wrap="square" rtlCol="0" anchor="t"/>
          <a:lstStyle/>
          <a:p>
            <a:pPr indent="0" marL="0">
              <a:lnSpc>
                <a:spcPts val="1600"/>
              </a:lnSpc>
              <a:buNone/>
            </a:pPr>
            <a:r>
              <a:rPr lang="en-US" sz="1300" b="1" dirty="0">
                <a:solidFill>
                  <a:srgbClr val="0B1B3A"/>
                </a:solidFill>
                <a:latin typeface="Calibri" pitchFamily="34" charset="0"/>
                <a:ea typeface="Calibri" pitchFamily="34" charset="-122"/>
                <a:cs typeface="Calibri" pitchFamily="34" charset="-120"/>
              </a:rPr>
              <a:t>Detecting invalid Sudoku input</a:t>
            </a:r>
            <a:endParaRPr lang="en-US" sz="1300" dirty="0"/>
          </a:p>
        </p:txBody>
      </p:sp>
      <p:sp>
        <p:nvSpPr>
          <p:cNvPr id="21" name="Text 19"/>
          <p:cNvSpPr/>
          <p:nvPr/>
        </p:nvSpPr>
        <p:spPr>
          <a:xfrm>
            <a:off x="4389120" y="4937760"/>
            <a:ext cx="2743200" cy="274320"/>
          </a:xfrm>
          <a:prstGeom prst="rect">
            <a:avLst/>
          </a:prstGeom>
          <a:noFill/>
          <a:ln/>
        </p:spPr>
        <p:txBody>
          <a:bodyPr wrap="square" rtlCol="0" anchor="ctr"/>
          <a:lstStyle/>
          <a:p>
            <a:pPr indent="0" marL="0">
              <a:buNone/>
            </a:pPr>
            <a:r>
              <a:rPr lang="en-US" sz="1000" b="1" dirty="0">
                <a:solidFill>
                  <a:srgbClr val="2F5FE0"/>
                </a:solidFill>
                <a:latin typeface="Calibri" pitchFamily="34" charset="0"/>
                <a:ea typeface="Calibri" pitchFamily="34" charset="-122"/>
                <a:cs typeface="Calibri" pitchFamily="34" charset="-120"/>
              </a:rPr>
              <a:t>RESOLUTION</a:t>
            </a:r>
            <a:endParaRPr lang="en-US" sz="1000" dirty="0"/>
          </a:p>
        </p:txBody>
      </p:sp>
      <p:sp>
        <p:nvSpPr>
          <p:cNvPr id="22" name="Text 20"/>
          <p:cNvSpPr/>
          <p:nvPr/>
        </p:nvSpPr>
        <p:spPr>
          <a:xfrm>
            <a:off x="4389120" y="5184648"/>
            <a:ext cx="6949440" cy="731520"/>
          </a:xfrm>
          <a:prstGeom prst="rect">
            <a:avLst/>
          </a:prstGeom>
          <a:noFill/>
          <a:ln/>
        </p:spPr>
        <p:txBody>
          <a:bodyPr wrap="square" rtlCol="0" anchor="t"/>
          <a:lstStyle/>
          <a:p>
            <a:pPr indent="0" marL="0">
              <a:lnSpc>
                <a:spcPts val="1600"/>
              </a:lnSpc>
              <a:buNone/>
            </a:pPr>
            <a:r>
              <a:rPr lang="en-US" sz="1300" dirty="0">
                <a:solidFill>
                  <a:srgbClr val="48505C"/>
                </a:solidFill>
                <a:latin typeface="Calibri" pitchFamily="34" charset="0"/>
                <a:ea typeface="Calibri" pitchFamily="34" charset="-122"/>
                <a:cs typeface="Calibri" pitchFamily="34" charset="-120"/>
              </a:rPr>
              <a:t>Sudoku Solver — pre-check added to separate “bad input” from “no solution”</a:t>
            </a:r>
            <a:endParaRPr lang="en-US" sz="1300" dirty="0"/>
          </a:p>
        </p:txBody>
      </p:sp>
      <p:sp>
        <p:nvSpPr>
          <p:cNvPr id="23" name="Text 21"/>
          <p:cNvSpPr/>
          <p:nvPr/>
        </p:nvSpPr>
        <p:spPr>
          <a:xfrm>
            <a:off x="502920" y="6537960"/>
            <a:ext cx="7315200" cy="274320"/>
          </a:xfrm>
          <a:prstGeom prst="rect">
            <a:avLst/>
          </a:prstGeom>
          <a:noFill/>
          <a:ln/>
        </p:spPr>
        <p:txBody>
          <a:bodyPr wrap="square" rtlCol="0" anchor="ctr"/>
          <a:lstStyle/>
          <a:p>
            <a:pPr indent="0" marL="0">
              <a:buNone/>
            </a:pPr>
            <a:r>
              <a:rPr lang="en-US" sz="900" dirty="0">
                <a:solidFill>
                  <a:srgbClr val="9AA3AF"/>
                </a:solidFill>
                <a:latin typeface="Calibri" pitchFamily="34" charset="0"/>
                <a:ea typeface="Calibri" pitchFamily="34" charset="-122"/>
                <a:cs typeface="Calibri" pitchFamily="34" charset="-120"/>
              </a:rPr>
              <a:t>Aditya Agrawal  |  CodeAlpha C++ Programming Internship</a:t>
            </a:r>
            <a:endParaRPr lang="en-US" sz="900" dirty="0"/>
          </a:p>
        </p:txBody>
      </p:sp>
      <p:sp>
        <p:nvSpPr>
          <p:cNvPr id="24" name="Text 22"/>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9A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640080"/>
          </a:xfrm>
          <a:prstGeom prst="rect">
            <a:avLst/>
          </a:prstGeom>
          <a:noFill/>
          <a:ln/>
        </p:spPr>
        <p:txBody>
          <a:bodyPr wrap="square" rtlCol="0" anchor="ctr"/>
          <a:lstStyle/>
          <a:p>
            <a:pPr indent="0" marL="0">
              <a:buNone/>
            </a:pPr>
            <a:r>
              <a:rPr lang="en-US" sz="2600" b="1" dirty="0">
                <a:solidFill>
                  <a:srgbClr val="0B1B3A"/>
                </a:solidFill>
                <a:latin typeface="Cambria" pitchFamily="34" charset="0"/>
                <a:ea typeface="Cambria" pitchFamily="34" charset="-122"/>
                <a:cs typeface="Cambria" pitchFamily="34" charset="-120"/>
              </a:rPr>
              <a:t>Expected Outcomes &amp; Skills Developed</a:t>
            </a:r>
            <a:endParaRPr lang="en-US" sz="2600" dirty="0"/>
          </a:p>
        </p:txBody>
      </p:sp>
      <p:sp>
        <p:nvSpPr>
          <p:cNvPr id="3" name="Shape 1"/>
          <p:cNvSpPr/>
          <p:nvPr/>
        </p:nvSpPr>
        <p:spPr>
          <a:xfrm>
            <a:off x="502920" y="960120"/>
            <a:ext cx="11155680" cy="41148"/>
          </a:xfrm>
          <a:prstGeom prst="rect">
            <a:avLst/>
          </a:prstGeom>
          <a:solidFill>
            <a:srgbClr val="2F5FE0"/>
          </a:solidFill>
          <a:ln/>
        </p:spPr>
      </p:sp>
      <p:sp>
        <p:nvSpPr>
          <p:cNvPr id="4" name="Text 2"/>
          <p:cNvSpPr/>
          <p:nvPr/>
        </p:nvSpPr>
        <p:spPr>
          <a:xfrm>
            <a:off x="502920" y="1280160"/>
            <a:ext cx="5394960" cy="365760"/>
          </a:xfrm>
          <a:prstGeom prst="rect">
            <a:avLst/>
          </a:prstGeom>
          <a:noFill/>
          <a:ln/>
        </p:spPr>
        <p:txBody>
          <a:bodyPr wrap="square" rtlCol="0" anchor="ctr"/>
          <a:lstStyle/>
          <a:p>
            <a:pPr indent="0" marL="0">
              <a:buNone/>
            </a:pPr>
            <a:r>
              <a:rPr lang="en-US" sz="1500" b="1" dirty="0">
                <a:solidFill>
                  <a:srgbClr val="0B1B3A"/>
                </a:solidFill>
                <a:latin typeface="Cambria" pitchFamily="34" charset="0"/>
                <a:ea typeface="Cambria" pitchFamily="34" charset="-122"/>
                <a:cs typeface="Cambria" pitchFamily="34" charset="-120"/>
              </a:rPr>
              <a:t>Technical Skills</a:t>
            </a:r>
            <a:endParaRPr lang="en-US" sz="1500" dirty="0"/>
          </a:p>
        </p:txBody>
      </p:sp>
      <p:sp>
        <p:nvSpPr>
          <p:cNvPr id="5" name="Text 3"/>
          <p:cNvSpPr/>
          <p:nvPr/>
        </p:nvSpPr>
        <p:spPr>
          <a:xfrm>
            <a:off x="502920" y="1737360"/>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C++17: structs, classes, vectors, recursion</a:t>
            </a:r>
            <a:endParaRPr lang="en-US" sz="1300" dirty="0"/>
          </a:p>
        </p:txBody>
      </p:sp>
      <p:sp>
        <p:nvSpPr>
          <p:cNvPr id="6" name="Text 4"/>
          <p:cNvSpPr/>
          <p:nvPr/>
        </p:nvSpPr>
        <p:spPr>
          <a:xfrm>
            <a:off x="502920" y="2176272"/>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OOP: encapsulation, composition</a:t>
            </a:r>
            <a:endParaRPr lang="en-US" sz="1300" dirty="0"/>
          </a:p>
        </p:txBody>
      </p:sp>
      <p:sp>
        <p:nvSpPr>
          <p:cNvPr id="7" name="Text 5"/>
          <p:cNvSpPr/>
          <p:nvPr/>
        </p:nvSpPr>
        <p:spPr>
          <a:xfrm>
            <a:off x="502920" y="2615184"/>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Algorithm design: recursive backtracking</a:t>
            </a:r>
            <a:endParaRPr lang="en-US" sz="1300" dirty="0"/>
          </a:p>
        </p:txBody>
      </p:sp>
      <p:sp>
        <p:nvSpPr>
          <p:cNvPr id="8" name="Text 6"/>
          <p:cNvSpPr/>
          <p:nvPr/>
        </p:nvSpPr>
        <p:spPr>
          <a:xfrm>
            <a:off x="502920" y="3054096"/>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Input validation &amp; defensive programming</a:t>
            </a:r>
            <a:endParaRPr lang="en-US" sz="1300" dirty="0"/>
          </a:p>
        </p:txBody>
      </p:sp>
      <p:sp>
        <p:nvSpPr>
          <p:cNvPr id="9" name="Text 7"/>
          <p:cNvSpPr/>
          <p:nvPr/>
        </p:nvSpPr>
        <p:spPr>
          <a:xfrm>
            <a:off x="502920" y="3493008"/>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Debugging &amp; root-cause testing</a:t>
            </a:r>
            <a:endParaRPr lang="en-US" sz="1300" dirty="0"/>
          </a:p>
        </p:txBody>
      </p:sp>
      <p:sp>
        <p:nvSpPr>
          <p:cNvPr id="10" name="Text 8"/>
          <p:cNvSpPr/>
          <p:nvPr/>
        </p:nvSpPr>
        <p:spPr>
          <a:xfrm>
            <a:off x="502920" y="3931920"/>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Git &amp; GitHub</a:t>
            </a:r>
            <a:endParaRPr lang="en-US" sz="1300" dirty="0"/>
          </a:p>
        </p:txBody>
      </p:sp>
      <p:sp>
        <p:nvSpPr>
          <p:cNvPr id="11" name="Text 9"/>
          <p:cNvSpPr/>
          <p:nvPr/>
        </p:nvSpPr>
        <p:spPr>
          <a:xfrm>
            <a:off x="6263640" y="1280160"/>
            <a:ext cx="5394960" cy="365760"/>
          </a:xfrm>
          <a:prstGeom prst="rect">
            <a:avLst/>
          </a:prstGeom>
          <a:noFill/>
          <a:ln/>
        </p:spPr>
        <p:txBody>
          <a:bodyPr wrap="square" rtlCol="0" anchor="ctr"/>
          <a:lstStyle/>
          <a:p>
            <a:pPr indent="0" marL="0">
              <a:buNone/>
            </a:pPr>
            <a:r>
              <a:rPr lang="en-US" sz="1500" b="1" dirty="0">
                <a:solidFill>
                  <a:srgbClr val="0B1B3A"/>
                </a:solidFill>
                <a:latin typeface="Cambria" pitchFamily="34" charset="0"/>
                <a:ea typeface="Cambria" pitchFamily="34" charset="-122"/>
                <a:cs typeface="Cambria" pitchFamily="34" charset="-120"/>
              </a:rPr>
              <a:t>Soft Skills &amp; Outcomes</a:t>
            </a:r>
            <a:endParaRPr lang="en-US" sz="1500" dirty="0"/>
          </a:p>
        </p:txBody>
      </p:sp>
      <p:sp>
        <p:nvSpPr>
          <p:cNvPr id="12" name="Text 10"/>
          <p:cNvSpPr/>
          <p:nvPr/>
        </p:nvSpPr>
        <p:spPr>
          <a:xfrm>
            <a:off x="6263640" y="1737360"/>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Requirement analysis &amp; specification-following</a:t>
            </a:r>
            <a:endParaRPr lang="en-US" sz="1300" dirty="0"/>
          </a:p>
        </p:txBody>
      </p:sp>
      <p:sp>
        <p:nvSpPr>
          <p:cNvPr id="13" name="Text 11"/>
          <p:cNvSpPr/>
          <p:nvPr/>
        </p:nvSpPr>
        <p:spPr>
          <a:xfrm>
            <a:off x="6263640" y="2176272"/>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Structured problem-solving &amp; systematic testing</a:t>
            </a:r>
            <a:endParaRPr lang="en-US" sz="1300" dirty="0"/>
          </a:p>
        </p:txBody>
      </p:sp>
      <p:sp>
        <p:nvSpPr>
          <p:cNvPr id="14" name="Text 12"/>
          <p:cNvSpPr/>
          <p:nvPr/>
        </p:nvSpPr>
        <p:spPr>
          <a:xfrm>
            <a:off x="6263640" y="2615184"/>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Clear technical documentation</a:t>
            </a:r>
            <a:endParaRPr lang="en-US" sz="1300" dirty="0"/>
          </a:p>
        </p:txBody>
      </p:sp>
      <p:sp>
        <p:nvSpPr>
          <p:cNvPr id="15" name="Text 13"/>
          <p:cNvSpPr/>
          <p:nvPr/>
        </p:nvSpPr>
        <p:spPr>
          <a:xfrm>
            <a:off x="6263640" y="3054096"/>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Time management across deliverables</a:t>
            </a:r>
            <a:endParaRPr lang="en-US" sz="1300" dirty="0"/>
          </a:p>
        </p:txBody>
      </p:sp>
      <p:sp>
        <p:nvSpPr>
          <p:cNvPr id="16" name="Text 14"/>
          <p:cNvSpPr/>
          <p:nvPr/>
        </p:nvSpPr>
        <p:spPr>
          <a:xfrm>
            <a:off x="6263640" y="3493008"/>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3 fully tested, working C++ applications</a:t>
            </a:r>
            <a:endParaRPr lang="en-US" sz="1300" dirty="0"/>
          </a:p>
        </p:txBody>
      </p:sp>
      <p:sp>
        <p:nvSpPr>
          <p:cNvPr id="17" name="Text 15"/>
          <p:cNvSpPr/>
          <p:nvPr/>
        </p:nvSpPr>
        <p:spPr>
          <a:xfrm>
            <a:off x="6263640" y="3931920"/>
            <a:ext cx="5394960" cy="365760"/>
          </a:xfrm>
          <a:prstGeom prst="rect">
            <a:avLst/>
          </a:prstGeom>
          <a:noFill/>
          <a:ln/>
        </p:spPr>
        <p:txBody>
          <a:bodyPr wrap="square" rtlCol="0" anchor="ctr"/>
          <a:lstStyle/>
          <a:p>
            <a:pPr indent="0" marL="0">
              <a:buNone/>
            </a:pPr>
            <a:r>
              <a:rPr lang="en-US" sz="1300" dirty="0">
                <a:solidFill>
                  <a:srgbClr val="48505C"/>
                </a:solidFill>
                <a:latin typeface="Calibri" pitchFamily="34" charset="0"/>
                <a:ea typeface="Calibri" pitchFamily="34" charset="-122"/>
                <a:cs typeface="Calibri" pitchFamily="34" charset="-120"/>
              </a:rPr>
              <a:t>•  A verifiable, GitHub-ready portfolio</a:t>
            </a:r>
            <a:endParaRPr lang="en-US" sz="1300" dirty="0"/>
          </a:p>
        </p:txBody>
      </p:sp>
      <p:sp>
        <p:nvSpPr>
          <p:cNvPr id="18" name="Text 16"/>
          <p:cNvSpPr/>
          <p:nvPr/>
        </p:nvSpPr>
        <p:spPr>
          <a:xfrm>
            <a:off x="502920" y="6537960"/>
            <a:ext cx="7315200" cy="274320"/>
          </a:xfrm>
          <a:prstGeom prst="rect">
            <a:avLst/>
          </a:prstGeom>
          <a:noFill/>
          <a:ln/>
        </p:spPr>
        <p:txBody>
          <a:bodyPr wrap="square" rtlCol="0" anchor="ctr"/>
          <a:lstStyle/>
          <a:p>
            <a:pPr indent="0" marL="0">
              <a:buNone/>
            </a:pPr>
            <a:r>
              <a:rPr lang="en-US" sz="900" dirty="0">
                <a:solidFill>
                  <a:srgbClr val="9AA3AF"/>
                </a:solidFill>
                <a:latin typeface="Calibri" pitchFamily="34" charset="0"/>
                <a:ea typeface="Calibri" pitchFamily="34" charset="-122"/>
                <a:cs typeface="Calibri" pitchFamily="34" charset="-120"/>
              </a:rPr>
              <a:t>Aditya Agrawal  |  CodeAlpha C++ Programming Internship</a:t>
            </a:r>
            <a:endParaRPr lang="en-US" sz="900" dirty="0"/>
          </a:p>
        </p:txBody>
      </p:sp>
      <p:sp>
        <p:nvSpPr>
          <p:cNvPr id="19" name="Text 17"/>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9A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515600" cy="640080"/>
          </a:xfrm>
          <a:prstGeom prst="rect">
            <a:avLst/>
          </a:prstGeom>
          <a:noFill/>
          <a:ln/>
        </p:spPr>
        <p:txBody>
          <a:bodyPr wrap="square" rtlCol="0" anchor="ctr"/>
          <a:lstStyle/>
          <a:p>
            <a:pPr indent="0" marL="0">
              <a:buNone/>
            </a:pPr>
            <a:r>
              <a:rPr lang="en-US" sz="2600" b="1" dirty="0">
                <a:solidFill>
                  <a:srgbClr val="0B1B3A"/>
                </a:solidFill>
                <a:latin typeface="Cambria" pitchFamily="34" charset="0"/>
                <a:ea typeface="Cambria" pitchFamily="34" charset="-122"/>
                <a:cs typeface="Cambria" pitchFamily="34" charset="-120"/>
              </a:rPr>
              <a:t>Key Achievements</a:t>
            </a:r>
            <a:endParaRPr lang="en-US" sz="2600" dirty="0"/>
          </a:p>
        </p:txBody>
      </p:sp>
      <p:sp>
        <p:nvSpPr>
          <p:cNvPr id="3" name="Shape 1"/>
          <p:cNvSpPr/>
          <p:nvPr/>
        </p:nvSpPr>
        <p:spPr>
          <a:xfrm>
            <a:off x="502920" y="960120"/>
            <a:ext cx="11155680" cy="41148"/>
          </a:xfrm>
          <a:prstGeom prst="rect">
            <a:avLst/>
          </a:prstGeom>
          <a:solidFill>
            <a:srgbClr val="2F5FE0"/>
          </a:solidFill>
          <a:ln/>
        </p:spPr>
      </p:sp>
      <p:sp>
        <p:nvSpPr>
          <p:cNvPr id="4" name="Shape 2"/>
          <p:cNvSpPr/>
          <p:nvPr/>
        </p:nvSpPr>
        <p:spPr>
          <a:xfrm>
            <a:off x="502920" y="2194560"/>
            <a:ext cx="2606040" cy="2103120"/>
          </a:xfrm>
          <a:prstGeom prst="roundRect">
            <a:avLst>
              <a:gd name="adj" fmla="val 2609"/>
            </a:avLst>
          </a:prstGeom>
          <a:solidFill>
            <a:srgbClr val="1E2C4E"/>
          </a:solidFill>
          <a:ln w="12700">
            <a:solidFill>
              <a:srgbClr val="E3E7EF"/>
            </a:solidFill>
            <a:prstDash val="solid"/>
          </a:ln>
        </p:spPr>
      </p:sp>
      <p:sp>
        <p:nvSpPr>
          <p:cNvPr id="5" name="Text 3"/>
          <p:cNvSpPr/>
          <p:nvPr/>
        </p:nvSpPr>
        <p:spPr>
          <a:xfrm>
            <a:off x="502920" y="2423160"/>
            <a:ext cx="2606040" cy="100584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3</a:t>
            </a:r>
            <a:endParaRPr lang="en-US" sz="4400" dirty="0"/>
          </a:p>
        </p:txBody>
      </p:sp>
      <p:sp>
        <p:nvSpPr>
          <p:cNvPr id="6" name="Text 4"/>
          <p:cNvSpPr/>
          <p:nvPr/>
        </p:nvSpPr>
        <p:spPr>
          <a:xfrm>
            <a:off x="685800" y="3429000"/>
            <a:ext cx="2240280" cy="777240"/>
          </a:xfrm>
          <a:prstGeom prst="rect">
            <a:avLst/>
          </a:prstGeom>
          <a:noFill/>
          <a:ln/>
        </p:spPr>
        <p:txBody>
          <a:bodyPr wrap="square" rtlCol="0" anchor="t"/>
          <a:lstStyle/>
          <a:p>
            <a:pPr algn="ctr" indent="0" marL="0">
              <a:lnSpc>
                <a:spcPts val="1400"/>
              </a:lnSpc>
              <a:buNone/>
            </a:pPr>
            <a:r>
              <a:rPr lang="en-US" sz="1100" dirty="0">
                <a:solidFill>
                  <a:srgbClr val="C7D3EE"/>
                </a:solidFill>
                <a:latin typeface="Calibri" pitchFamily="34" charset="0"/>
                <a:ea typeface="Calibri" pitchFamily="34" charset="-122"/>
                <a:cs typeface="Calibri" pitchFamily="34" charset="-120"/>
              </a:rPr>
              <a:t>Complete C++ projects built, tested &amp; documented</a:t>
            </a:r>
            <a:endParaRPr lang="en-US" sz="1100" dirty="0"/>
          </a:p>
        </p:txBody>
      </p:sp>
      <p:sp>
        <p:nvSpPr>
          <p:cNvPr id="7" name="Shape 5"/>
          <p:cNvSpPr/>
          <p:nvPr/>
        </p:nvSpPr>
        <p:spPr>
          <a:xfrm>
            <a:off x="3337560" y="2194560"/>
            <a:ext cx="2606040" cy="2103120"/>
          </a:xfrm>
          <a:prstGeom prst="roundRect">
            <a:avLst>
              <a:gd name="adj" fmla="val 2609"/>
            </a:avLst>
          </a:prstGeom>
          <a:solidFill>
            <a:srgbClr val="1E2C4E"/>
          </a:solidFill>
          <a:ln w="12700">
            <a:solidFill>
              <a:srgbClr val="E3E7EF"/>
            </a:solidFill>
            <a:prstDash val="solid"/>
          </a:ln>
        </p:spPr>
      </p:sp>
      <p:sp>
        <p:nvSpPr>
          <p:cNvPr id="8" name="Text 6"/>
          <p:cNvSpPr/>
          <p:nvPr/>
        </p:nvSpPr>
        <p:spPr>
          <a:xfrm>
            <a:off x="3337560" y="2423160"/>
            <a:ext cx="2606040" cy="100584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0</a:t>
            </a:r>
            <a:endParaRPr lang="en-US" sz="4400" dirty="0"/>
          </a:p>
        </p:txBody>
      </p:sp>
      <p:sp>
        <p:nvSpPr>
          <p:cNvPr id="9" name="Text 7"/>
          <p:cNvSpPr/>
          <p:nvPr/>
        </p:nvSpPr>
        <p:spPr>
          <a:xfrm>
            <a:off x="3520440" y="3429000"/>
            <a:ext cx="2240280" cy="777240"/>
          </a:xfrm>
          <a:prstGeom prst="rect">
            <a:avLst/>
          </a:prstGeom>
          <a:noFill/>
          <a:ln/>
        </p:spPr>
        <p:txBody>
          <a:bodyPr wrap="square" rtlCol="0" anchor="t"/>
          <a:lstStyle/>
          <a:p>
            <a:pPr algn="ctr" indent="0" marL="0">
              <a:lnSpc>
                <a:spcPts val="1400"/>
              </a:lnSpc>
              <a:buNone/>
            </a:pPr>
            <a:r>
              <a:rPr lang="en-US" sz="1100" dirty="0">
                <a:solidFill>
                  <a:srgbClr val="C7D3EE"/>
                </a:solidFill>
                <a:latin typeface="Calibri" pitchFamily="34" charset="0"/>
                <a:ea typeface="Calibri" pitchFamily="34" charset="-122"/>
                <a:cs typeface="Calibri" pitchFamily="34" charset="-120"/>
              </a:rPr>
              <a:t>Compiler warnings across all projects (g++ -Wall)</a:t>
            </a:r>
            <a:endParaRPr lang="en-US" sz="1100" dirty="0"/>
          </a:p>
        </p:txBody>
      </p:sp>
      <p:sp>
        <p:nvSpPr>
          <p:cNvPr id="10" name="Shape 8"/>
          <p:cNvSpPr/>
          <p:nvPr/>
        </p:nvSpPr>
        <p:spPr>
          <a:xfrm>
            <a:off x="6172200" y="2194560"/>
            <a:ext cx="2606040" cy="2103120"/>
          </a:xfrm>
          <a:prstGeom prst="roundRect">
            <a:avLst>
              <a:gd name="adj" fmla="val 2609"/>
            </a:avLst>
          </a:prstGeom>
          <a:solidFill>
            <a:srgbClr val="1E2C4E"/>
          </a:solidFill>
          <a:ln w="12700">
            <a:solidFill>
              <a:srgbClr val="E3E7EF"/>
            </a:solidFill>
            <a:prstDash val="solid"/>
          </a:ln>
        </p:spPr>
      </p:sp>
      <p:sp>
        <p:nvSpPr>
          <p:cNvPr id="11" name="Text 9"/>
          <p:cNvSpPr/>
          <p:nvPr/>
        </p:nvSpPr>
        <p:spPr>
          <a:xfrm>
            <a:off x="6172200" y="2423160"/>
            <a:ext cx="2606040" cy="100584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a:t>
            </a:r>
            <a:endParaRPr lang="en-US" sz="4400" dirty="0"/>
          </a:p>
        </p:txBody>
      </p:sp>
      <p:sp>
        <p:nvSpPr>
          <p:cNvPr id="12" name="Text 10"/>
          <p:cNvSpPr/>
          <p:nvPr/>
        </p:nvSpPr>
        <p:spPr>
          <a:xfrm>
            <a:off x="6355080" y="3429000"/>
            <a:ext cx="2240280" cy="777240"/>
          </a:xfrm>
          <a:prstGeom prst="rect">
            <a:avLst/>
          </a:prstGeom>
          <a:noFill/>
          <a:ln/>
        </p:spPr>
        <p:txBody>
          <a:bodyPr wrap="square" rtlCol="0" anchor="t"/>
          <a:lstStyle/>
          <a:p>
            <a:pPr algn="ctr" indent="0" marL="0">
              <a:lnSpc>
                <a:spcPts val="1400"/>
              </a:lnSpc>
              <a:buNone/>
            </a:pPr>
            <a:r>
              <a:rPr lang="en-US" sz="1100" dirty="0">
                <a:solidFill>
                  <a:srgbClr val="C7D3EE"/>
                </a:solidFill>
                <a:latin typeface="Calibri" pitchFamily="34" charset="0"/>
                <a:ea typeface="Calibri" pitchFamily="34" charset="-122"/>
                <a:cs typeface="Calibri" pitchFamily="34" charset="-120"/>
              </a:rPr>
              <a:t>Real bug found &amp; fixed through genuine testing</a:t>
            </a:r>
            <a:endParaRPr lang="en-US" sz="1100" dirty="0"/>
          </a:p>
        </p:txBody>
      </p:sp>
      <p:sp>
        <p:nvSpPr>
          <p:cNvPr id="13" name="Shape 11"/>
          <p:cNvSpPr/>
          <p:nvPr/>
        </p:nvSpPr>
        <p:spPr>
          <a:xfrm>
            <a:off x="9006840" y="2194560"/>
            <a:ext cx="2606040" cy="2103120"/>
          </a:xfrm>
          <a:prstGeom prst="roundRect">
            <a:avLst>
              <a:gd name="adj" fmla="val 2609"/>
            </a:avLst>
          </a:prstGeom>
          <a:solidFill>
            <a:srgbClr val="1E2C4E"/>
          </a:solidFill>
          <a:ln w="12700">
            <a:solidFill>
              <a:srgbClr val="E3E7EF"/>
            </a:solidFill>
            <a:prstDash val="solid"/>
          </a:ln>
        </p:spPr>
      </p:sp>
      <p:sp>
        <p:nvSpPr>
          <p:cNvPr id="14" name="Text 12"/>
          <p:cNvSpPr/>
          <p:nvPr/>
        </p:nvSpPr>
        <p:spPr>
          <a:xfrm>
            <a:off x="9006840" y="2423160"/>
            <a:ext cx="2606040" cy="100584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4</a:t>
            </a:r>
            <a:endParaRPr lang="en-US" sz="4400" dirty="0"/>
          </a:p>
        </p:txBody>
      </p:sp>
      <p:sp>
        <p:nvSpPr>
          <p:cNvPr id="15" name="Text 13"/>
          <p:cNvSpPr/>
          <p:nvPr/>
        </p:nvSpPr>
        <p:spPr>
          <a:xfrm>
            <a:off x="9189720" y="3429000"/>
            <a:ext cx="2240280" cy="777240"/>
          </a:xfrm>
          <a:prstGeom prst="rect">
            <a:avLst/>
          </a:prstGeom>
          <a:noFill/>
          <a:ln/>
        </p:spPr>
        <p:txBody>
          <a:bodyPr wrap="square" rtlCol="0" anchor="t"/>
          <a:lstStyle/>
          <a:p>
            <a:pPr algn="ctr" indent="0" marL="0">
              <a:lnSpc>
                <a:spcPts val="1400"/>
              </a:lnSpc>
              <a:buNone/>
            </a:pPr>
            <a:r>
              <a:rPr lang="en-US" sz="1100" dirty="0">
                <a:solidFill>
                  <a:srgbClr val="C7D3EE"/>
                </a:solidFill>
                <a:latin typeface="Calibri" pitchFamily="34" charset="0"/>
                <a:ea typeface="Calibri" pitchFamily="34" charset="-122"/>
                <a:cs typeface="Calibri" pitchFamily="34" charset="-120"/>
              </a:rPr>
              <a:t>Weeks of internship duration completed</a:t>
            </a:r>
            <a:endParaRPr lang="en-US" sz="1100" dirty="0"/>
          </a:p>
        </p:txBody>
      </p:sp>
      <p:sp>
        <p:nvSpPr>
          <p:cNvPr id="16" name="Text 14"/>
          <p:cNvSpPr/>
          <p:nvPr/>
        </p:nvSpPr>
        <p:spPr>
          <a:xfrm>
            <a:off x="502920" y="6537960"/>
            <a:ext cx="7315200" cy="274320"/>
          </a:xfrm>
          <a:prstGeom prst="rect">
            <a:avLst/>
          </a:prstGeom>
          <a:noFill/>
          <a:ln/>
        </p:spPr>
        <p:txBody>
          <a:bodyPr wrap="square" rtlCol="0" anchor="ctr"/>
          <a:lstStyle/>
          <a:p>
            <a:pPr indent="0" marL="0">
              <a:buNone/>
            </a:pPr>
            <a:r>
              <a:rPr lang="en-US" sz="900" dirty="0">
                <a:solidFill>
                  <a:srgbClr val="9AA3AF"/>
                </a:solidFill>
                <a:latin typeface="Calibri" pitchFamily="34" charset="0"/>
                <a:ea typeface="Calibri" pitchFamily="34" charset="-122"/>
                <a:cs typeface="Calibri" pitchFamily="34" charset="-120"/>
              </a:rPr>
              <a:t>Aditya Agrawal  |  CodeAlpha C++ Programming Internship</a:t>
            </a:r>
            <a:endParaRPr lang="en-US" sz="900" dirty="0"/>
          </a:p>
        </p:txBody>
      </p:sp>
      <p:sp>
        <p:nvSpPr>
          <p:cNvPr id="17" name="Text 15"/>
          <p:cNvSpPr/>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9A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2011680"/>
            <a:ext cx="12188952" cy="914400"/>
          </a:xfrm>
          <a:prstGeom prst="rect">
            <a:avLst/>
          </a:prstGeom>
          <a:noFill/>
          <a:ln/>
        </p:spPr>
        <p:txBody>
          <a:bodyPr wrap="square" rtlCol="0" anchor="ctr"/>
          <a:lstStyle/>
          <a:p>
            <a:pPr algn="ctr" indent="0" marL="0">
              <a:buNone/>
            </a:pPr>
            <a:r>
              <a:rPr lang="en-US" sz="4400" b="1" dirty="0">
                <a:solidFill>
                  <a:srgbClr val="0B1B3A"/>
                </a:solidFill>
                <a:latin typeface="Cambria" pitchFamily="34" charset="0"/>
                <a:ea typeface="Cambria" pitchFamily="34" charset="-122"/>
                <a:cs typeface="Cambria" pitchFamily="34" charset="-120"/>
              </a:rPr>
              <a:t>Thank You!</a:t>
            </a:r>
            <a:endParaRPr lang="en-US" sz="4400" dirty="0"/>
          </a:p>
        </p:txBody>
      </p:sp>
      <p:sp>
        <p:nvSpPr>
          <p:cNvPr id="3" name="Shape 1"/>
          <p:cNvSpPr/>
          <p:nvPr/>
        </p:nvSpPr>
        <p:spPr>
          <a:xfrm>
            <a:off x="3566160" y="3383280"/>
            <a:ext cx="5029200" cy="1463040"/>
          </a:xfrm>
          <a:prstGeom prst="roundRect">
            <a:avLst>
              <a:gd name="adj" fmla="val 3750"/>
            </a:avLst>
          </a:prstGeom>
          <a:solidFill>
            <a:srgbClr val="F7F9FC"/>
          </a:solidFill>
          <a:ln w="12700">
            <a:solidFill>
              <a:srgbClr val="E3E7EF"/>
            </a:solidFill>
            <a:prstDash val="solid"/>
          </a:ln>
        </p:spPr>
      </p:sp>
      <p:sp>
        <p:nvSpPr>
          <p:cNvPr id="4" name="Text 2"/>
          <p:cNvSpPr/>
          <p:nvPr/>
        </p:nvSpPr>
        <p:spPr>
          <a:xfrm>
            <a:off x="3840480" y="3566160"/>
            <a:ext cx="2194560" cy="365760"/>
          </a:xfrm>
          <a:prstGeom prst="rect">
            <a:avLst/>
          </a:prstGeom>
          <a:noFill/>
          <a:ln/>
        </p:spPr>
        <p:txBody>
          <a:bodyPr wrap="square" rtlCol="0" anchor="ctr"/>
          <a:lstStyle/>
          <a:p>
            <a:pPr indent="0" marL="0">
              <a:buNone/>
            </a:pPr>
            <a:r>
              <a:rPr lang="en-US" sz="1500" b="1" dirty="0">
                <a:solidFill>
                  <a:srgbClr val="0B1B3A"/>
                </a:solidFill>
                <a:latin typeface="Calibri" pitchFamily="34" charset="0"/>
                <a:ea typeface="Calibri" pitchFamily="34" charset="-122"/>
                <a:cs typeface="Calibri" pitchFamily="34" charset="-120"/>
              </a:rPr>
              <a:t>Aditya Agrawal</a:t>
            </a:r>
            <a:endParaRPr lang="en-US" sz="1500" dirty="0"/>
          </a:p>
        </p:txBody>
      </p:sp>
      <p:sp>
        <p:nvSpPr>
          <p:cNvPr id="5" name="Text 3"/>
          <p:cNvSpPr/>
          <p:nvPr/>
        </p:nvSpPr>
        <p:spPr>
          <a:xfrm>
            <a:off x="3840480" y="3931920"/>
            <a:ext cx="2194560" cy="457200"/>
          </a:xfrm>
          <a:prstGeom prst="rect">
            <a:avLst/>
          </a:prstGeom>
          <a:noFill/>
          <a:ln/>
        </p:spPr>
        <p:txBody>
          <a:bodyPr wrap="square" rtlCol="0" anchor="ctr"/>
          <a:lstStyle/>
          <a:p>
            <a:pPr indent="0" marL="0">
              <a:buNone/>
            </a:pPr>
            <a:r>
              <a:rPr lang="en-US" sz="1100" dirty="0">
                <a:solidFill>
                  <a:srgbClr val="48505C"/>
                </a:solidFill>
                <a:latin typeface="Calibri" pitchFamily="34" charset="0"/>
                <a:ea typeface="Calibri" pitchFamily="34" charset="-122"/>
                <a:cs typeface="Calibri" pitchFamily="34" charset="-120"/>
              </a:rPr>
              <a:t>Roll No: 25SCS1003004654</a:t>
            </a:r>
            <a:endParaRPr lang="en-US" sz="1100" dirty="0"/>
          </a:p>
        </p:txBody>
      </p:sp>
      <p:sp>
        <p:nvSpPr>
          <p:cNvPr id="6" name="Text 4"/>
          <p:cNvSpPr/>
          <p:nvPr/>
        </p:nvSpPr>
        <p:spPr>
          <a:xfrm>
            <a:off x="6309360" y="3566160"/>
            <a:ext cx="2468880" cy="594360"/>
          </a:xfrm>
          <a:prstGeom prst="rect">
            <a:avLst/>
          </a:prstGeom>
          <a:noFill/>
          <a:ln/>
        </p:spPr>
        <p:txBody>
          <a:bodyPr wrap="square" rtlCol="0" anchor="ctr"/>
          <a:lstStyle/>
          <a:p>
            <a:pPr indent="0" marL="0">
              <a:lnSpc>
                <a:spcPts val="1500"/>
              </a:lnSpc>
              <a:buNone/>
            </a:pPr>
            <a:r>
              <a:rPr lang="en-US" sz="1200" b="1" dirty="0">
                <a:solidFill>
                  <a:srgbClr val="0B1B3A"/>
                </a:solidFill>
                <a:latin typeface="Calibri" pitchFamily="34" charset="0"/>
                <a:ea typeface="Calibri" pitchFamily="34" charset="-122"/>
                <a:cs typeface="Calibri" pitchFamily="34" charset="-120"/>
              </a:rPr>
              <a:t>School of Computer Science &amp; Engineering</a:t>
            </a:r>
            <a:endParaRPr lang="en-US" sz="1200" dirty="0"/>
          </a:p>
        </p:txBody>
      </p:sp>
      <p:sp>
        <p:nvSpPr>
          <p:cNvPr id="7" name="Text 5"/>
          <p:cNvSpPr/>
          <p:nvPr/>
        </p:nvSpPr>
        <p:spPr>
          <a:xfrm>
            <a:off x="6309360" y="4160520"/>
            <a:ext cx="2468880" cy="457200"/>
          </a:xfrm>
          <a:prstGeom prst="rect">
            <a:avLst/>
          </a:prstGeom>
          <a:noFill/>
          <a:ln/>
        </p:spPr>
        <p:txBody>
          <a:bodyPr wrap="square" rtlCol="0" anchor="ctr"/>
          <a:lstStyle/>
          <a:p>
            <a:pPr indent="0" marL="0">
              <a:buNone/>
            </a:pPr>
            <a:r>
              <a:rPr lang="en-US" sz="1000" dirty="0">
                <a:solidFill>
                  <a:srgbClr val="48505C"/>
                </a:solidFill>
                <a:latin typeface="Calibri" pitchFamily="34" charset="0"/>
                <a:ea typeface="Calibri" pitchFamily="34" charset="-122"/>
                <a:cs typeface="Calibri" pitchFamily="34" charset="-120"/>
              </a:rPr>
              <a:t>IILM University, Greater Noida, U.P.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2026-08-31T09:47:31Z</dcterms:created>
  <dcterms:modified xsi:type="dcterms:W3CDTF">2026-08-31T09:47:31Z</dcterms:modified>
</cp:coreProperties>
</file>